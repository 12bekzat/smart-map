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5" d="100"/>
          <a:sy n="115" d="100"/>
        </p:scale>
        <p:origin x="706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8081" TargetMode="External"/><Relationship Id="rId2" Type="http://schemas.openxmlformats.org/officeDocument/2006/relationships/hyperlink" Target="http://localhost:4000/health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file:///C:\Users\toleu\Desktop\smart_maps\README.md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B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784080" y="-228600"/>
            <a:ext cx="2286000" cy="2286000"/>
          </a:xfrm>
          <a:prstGeom prst="roundRect">
            <a:avLst/>
          </a:prstGeom>
          <a:solidFill>
            <a:srgbClr val="3A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561320" y="5212080"/>
            <a:ext cx="1645920" cy="1645920"/>
          </a:xfrm>
          <a:prstGeom prst="roundRect">
            <a:avLst/>
          </a:prstGeom>
          <a:solidFill>
            <a:srgbClr val="2B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5989320"/>
            <a:ext cx="1280160" cy="219456"/>
          </a:xfrm>
          <a:prstGeom prst="roundRect">
            <a:avLst/>
          </a:prstGeom>
          <a:solidFill>
            <a:srgbClr val="FFB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A9B7C2"/>
                </a:solidFill>
                <a:latin typeface="Segoe UI"/>
              </a:defRPr>
            </a:pPr>
            <a:r>
              <a:t>ҚАЗАҚСТАН РЕСПУБЛИКАСЫ ҒЫЛЫМ ЖӘНЕ ЖОҒАРЫ БІЛІМ МИНИСТРЛІГІ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70408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F6FAFC"/>
                </a:solidFill>
                <a:latin typeface="Segoe UI Semibold"/>
              </a:defRPr>
            </a:pPr>
            <a:r>
              <a:t>«КАСПИЙ ҚОҒАМДЫҚ УНИВЕРСИТЕТІ» БМ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98755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A9B7C2"/>
                </a:solidFill>
                <a:latin typeface="Segoe UI"/>
              </a:defRPr>
            </a:pPr>
            <a:r>
              <a:t>Инженерия институты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243584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A9B7C2"/>
                </a:solidFill>
                <a:latin typeface="Segoe UI"/>
              </a:defRPr>
            </a:pPr>
            <a:r>
              <a:t>6В06120 - «Бағдарламалық инженерия» білім беру бағдарламасы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1874519"/>
            <a:ext cx="9921240" cy="2057400"/>
          </a:xfrm>
          <a:prstGeom prst="roundRect">
            <a:avLst/>
          </a:prstGeom>
          <a:solidFill>
            <a:srgbClr val="172632"/>
          </a:solidFill>
          <a:ln>
            <a:solidFill>
              <a:srgbClr val="445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417320" y="2084831"/>
            <a:ext cx="9372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2BD68B"/>
                </a:solidFill>
                <a:latin typeface="Segoe UI Semibold"/>
              </a:defRPr>
            </a:pPr>
            <a:r>
              <a:t>ДИПЛОМДЫҚ ЖОБА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633472"/>
            <a:ext cx="9372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>
                <a:solidFill>
                  <a:srgbClr val="F6FAFC"/>
                </a:solidFill>
                <a:latin typeface="Segoe UI Semibold"/>
              </a:defRPr>
            </a:pPr>
            <a:r>
              <a:t>«Қауіпсіз маршруттарды құратын</a:t>
            </a:r>
            <a:br/>
            <a:r>
              <a:t>SafeWay ақылды картасы»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493008"/>
            <a:ext cx="9372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A9B7C2"/>
                </a:solidFill>
                <a:latin typeface="Segoe UI"/>
              </a:defRPr>
            </a:pPr>
            <a:r>
              <a:t>Жобаның түрі: мобильді және серверлік бағдарламалық жүйе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4498848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F6FAFC"/>
                </a:solidFill>
                <a:latin typeface="Segoe UI"/>
              </a:defRPr>
            </a:pPr>
            <a:r>
              <a:t>Орындаған: ______________________________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4498848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F6FAFC"/>
                </a:solidFill>
                <a:latin typeface="Segoe UI"/>
              </a:defRPr>
            </a:pPr>
            <a:r>
              <a:t>Жетекші: ________________________________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03504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A9B7C2"/>
                </a:solidFill>
                <a:latin typeface="Segoe UI"/>
              </a:defRPr>
            </a:pPr>
            <a:r>
              <a:t>Алматы,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B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784080" y="-228600"/>
            <a:ext cx="2286000" cy="2286000"/>
          </a:xfrm>
          <a:prstGeom prst="roundRect">
            <a:avLst/>
          </a:prstGeom>
          <a:solidFill>
            <a:srgbClr val="3A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561320" y="5212080"/>
            <a:ext cx="1645920" cy="1645920"/>
          </a:xfrm>
          <a:prstGeom prst="roundRect">
            <a:avLst/>
          </a:prstGeom>
          <a:solidFill>
            <a:srgbClr val="2B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5989320"/>
            <a:ext cx="1280160" cy="219456"/>
          </a:xfrm>
          <a:prstGeom prst="roundRect">
            <a:avLst/>
          </a:prstGeom>
          <a:solidFill>
            <a:srgbClr val="FFB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329184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2BD68B"/>
                </a:solidFill>
                <a:latin typeface="Segoe UI Semibold"/>
              </a:defRPr>
            </a:pPr>
            <a:r>
              <a:t>01 | ЖОБАНЫҢ ПАСПОРТЫ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566928"/>
            <a:ext cx="996696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6FAFC"/>
                </a:solidFill>
                <a:latin typeface="Segoe UI Semibold"/>
              </a:defRPr>
            </a:pPr>
            <a:r>
              <a:t>Мақсат, міндеттер және зерттеу негізі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327648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9B7C2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6336792"/>
            <a:ext cx="4754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>
                <a:solidFill>
                  <a:srgbClr val="A9B7C2"/>
                </a:solidFill>
                <a:latin typeface="Segoe UI"/>
              </a:defRPr>
            </a:pPr>
            <a:r>
              <a:t>SafeWay | дипломдық жобаның алдын ала қорғауы |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417320"/>
            <a:ext cx="5257800" cy="4526280"/>
          </a:xfrm>
          <a:prstGeom prst="roundRect">
            <a:avLst/>
          </a:prstGeom>
          <a:solidFill>
            <a:srgbClr val="16222D"/>
          </a:solidFill>
          <a:ln>
            <a:solidFill>
              <a:srgbClr val="445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166420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2BD68B"/>
                </a:solidFill>
                <a:latin typeface="Segoe UI Semibold"/>
              </a:defRPr>
            </a:pPr>
            <a:r>
              <a:t>Мақсаты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139696"/>
            <a:ext cx="47091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40">
                <a:solidFill>
                  <a:srgbClr val="F6FAFC"/>
                </a:solidFill>
                <a:latin typeface="Segoe UI"/>
              </a:defRPr>
            </a:pPr>
            <a:r>
              <a:t>Ашық картографиялық деректерді, OSRM маршруттауын, жергілікті қауіп қабаттарын және пайдаланушы хабарламаларын біріктіретін SafeWay мобильді жүйесін іске асыру.</a:t>
            </a:r>
          </a:p>
          <a:p>
            <a:pPr>
              <a:spcAft>
                <a:spcPts val="800"/>
              </a:spcAft>
              <a:defRPr sz="1440">
                <a:solidFill>
                  <a:srgbClr val="F6FAFC"/>
                </a:solidFill>
                <a:latin typeface="Segoe UI"/>
              </a:defRPr>
            </a:pPr>
            <a:r>
              <a:t>Пайдаланушыға тек қысқа жолды емес, қауіп факторлары ескерілген қауіпсіз бағытты ұсыну.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867912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3AB8FF"/>
                </a:solidFill>
                <a:latin typeface="Segoe UI Semibold"/>
              </a:defRPr>
            </a:pPr>
            <a:r>
              <a:t>Нысан және пән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315968"/>
            <a:ext cx="470916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>
                <a:solidFill>
                  <a:srgbClr val="A9B7C2"/>
                </a:solidFill>
                <a:latin typeface="Segoe UI"/>
              </a:defRPr>
            </a:pPr>
            <a:r>
              <a:t>Объект: қала ішінде қауіпсіз бағыт таңдауға көмектесетін мобильді геоақпараттық жүйе.</a:t>
            </a:r>
          </a:p>
          <a:p>
            <a:pPr>
              <a:spcAft>
                <a:spcPts val="800"/>
              </a:spcAft>
              <a:defRPr sz="1350">
                <a:solidFill>
                  <a:srgbClr val="A9B7C2"/>
                </a:solidFill>
                <a:latin typeface="Segoe UI"/>
              </a:defRPr>
            </a:pPr>
            <a:r>
              <a:t>Пән: маршрут құру, қауіп факторларын есептеу, карта қабаттары, оқиға хабарламалары және баптауларды басқару әдістері.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417320"/>
            <a:ext cx="5257800" cy="4526280"/>
          </a:xfrm>
          <a:prstGeom prst="roundRect">
            <a:avLst/>
          </a:prstGeom>
          <a:solidFill>
            <a:srgbClr val="16222D"/>
          </a:solidFill>
          <a:ln>
            <a:solidFill>
              <a:srgbClr val="445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37960" y="166420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2BD68B"/>
                </a:solidFill>
                <a:latin typeface="Segoe UI Semibold"/>
              </a:defRPr>
            </a:pPr>
            <a:r>
              <a:t>Міндеттер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148840"/>
            <a:ext cx="45720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30">
                <a:solidFill>
                  <a:srgbClr val="F6FAFC"/>
                </a:solidFill>
                <a:latin typeface="Segoe UI"/>
              </a:defRPr>
            </a:pPr>
            <a:r>
              <a:t>Алматы үшін risk zones, safe places және map features деректер моделін құру.</a:t>
            </a:r>
          </a:p>
          <a:p>
            <a:pPr>
              <a:spcAft>
                <a:spcPts val="800"/>
              </a:spcAft>
              <a:defRPr sz="1330">
                <a:solidFill>
                  <a:srgbClr val="F6FAFC"/>
                </a:solidFill>
                <a:latin typeface="Segoe UI"/>
              </a:defRPr>
            </a:pPr>
            <a:r>
              <a:t>OSRM маршруттарын қауіп және қауіпсіздік қабаттарымен қайта бағалау.</a:t>
            </a:r>
          </a:p>
          <a:p>
            <a:pPr>
              <a:spcAft>
                <a:spcPts val="800"/>
              </a:spcAft>
              <a:defRPr sz="1330">
                <a:solidFill>
                  <a:srgbClr val="F6FAFC"/>
                </a:solidFill>
                <a:latin typeface="Segoe UI"/>
              </a:defRPr>
            </a:pPr>
            <a:r>
              <a:t>React Native/Expo мобильді интерфейсінде карта, іздеу, қабаттар және маршрутты көрсету.</a:t>
            </a:r>
          </a:p>
          <a:p>
            <a:pPr>
              <a:spcAft>
                <a:spcPts val="800"/>
              </a:spcAft>
              <a:defRPr sz="1330">
                <a:solidFill>
                  <a:srgbClr val="F6FAFC"/>
                </a:solidFill>
                <a:latin typeface="Segoe UI"/>
              </a:defRPr>
            </a:pPr>
            <a:r>
              <a:t>Пайдаланушы хабарламаларын, аккаунтты және preferences сақтау.</a:t>
            </a:r>
          </a:p>
          <a:p>
            <a:pPr>
              <a:spcAft>
                <a:spcPts val="800"/>
              </a:spcAft>
              <a:defRPr sz="1330">
                <a:solidFill>
                  <a:srgbClr val="F6FAFC"/>
                </a:solidFill>
                <a:latin typeface="Segoe UI"/>
              </a:defRPr>
            </a:pPr>
            <a:r>
              <a:t>Статистикалық деректер арқылы әлеуметтік өзектілікті негіздеу.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466344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50">
                <a:solidFill>
                  <a:srgbClr val="3AB8FF"/>
                </a:solidFill>
                <a:latin typeface="Segoe UI Semibold"/>
              </a:defRPr>
            </a:pPr>
            <a:r>
              <a:t>Практикалық құндылығы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5102352"/>
            <a:ext cx="4572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20">
                <a:solidFill>
                  <a:srgbClr val="A9B7C2"/>
                </a:solidFill>
                <a:latin typeface="Segoe UI"/>
              </a:defRPr>
            </a:pPr>
            <a:r>
              <a:t>Іске қосылатын full-stack прототип: mobile app + Express API + PostgreSQL database.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B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784080" y="-228600"/>
            <a:ext cx="2286000" cy="2286000"/>
          </a:xfrm>
          <a:prstGeom prst="roundRect">
            <a:avLst/>
          </a:prstGeom>
          <a:solidFill>
            <a:srgbClr val="3A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561320" y="5212080"/>
            <a:ext cx="1645920" cy="1645920"/>
          </a:xfrm>
          <a:prstGeom prst="roundRect">
            <a:avLst/>
          </a:prstGeom>
          <a:solidFill>
            <a:srgbClr val="2B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5989320"/>
            <a:ext cx="1280160" cy="219456"/>
          </a:xfrm>
          <a:prstGeom prst="roundRect">
            <a:avLst/>
          </a:prstGeom>
          <a:solidFill>
            <a:srgbClr val="FFB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329184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2BD68B"/>
                </a:solidFill>
                <a:latin typeface="Segoe UI Semibold"/>
              </a:defRPr>
            </a:pPr>
            <a:r>
              <a:t>02 | АНАЛИТИКА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566928"/>
            <a:ext cx="996696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6FAFC"/>
                </a:solidFill>
                <a:latin typeface="Segoe UI Semibold"/>
              </a:defRPr>
            </a:pPr>
            <a:r>
              <a:t>Аналитикалық шолу: статистика және әлеуметтік негіз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327648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9B7C2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6336792"/>
            <a:ext cx="4754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>
                <a:solidFill>
                  <a:srgbClr val="A9B7C2"/>
                </a:solidFill>
                <a:latin typeface="Segoe UI"/>
              </a:defRPr>
            </a:pPr>
            <a:r>
              <a:t>SafeWay | дипломдық жобаның алдын ала қорғауы |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1243584"/>
            <a:ext cx="10698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F6FAFC"/>
                </a:solidFill>
                <a:latin typeface="Segoe UI"/>
              </a:defRPr>
            </a:pPr>
            <a:r>
              <a:t>1234.xlsx деректері Алматы қаласындағы қауіпсіз қозғалыс мәселесінің тұрақты өзектілігін көрсетеді.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1920240"/>
            <a:ext cx="1965960" cy="1188720"/>
          </a:xfrm>
          <a:prstGeom prst="roundRect">
            <a:avLst/>
          </a:prstGeom>
          <a:solidFill>
            <a:srgbClr val="1E2D3A"/>
          </a:solidFill>
          <a:ln>
            <a:solidFill>
              <a:srgbClr val="445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2084832"/>
            <a:ext cx="163677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>
                <a:solidFill>
                  <a:srgbClr val="3AB8FF"/>
                </a:solidFill>
                <a:latin typeface="Segoe UI Semibold"/>
              </a:defRPr>
            </a:pPr>
            <a:r>
              <a:t>7,04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606040"/>
            <a:ext cx="16367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>
                <a:solidFill>
                  <a:srgbClr val="A9B7C2"/>
                </a:solidFill>
                <a:latin typeface="Segoe UI"/>
              </a:defRPr>
            </a:pPr>
            <a:r>
              <a:t>Алматы көрсеткіші, 2010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44368" y="1920240"/>
            <a:ext cx="1965960" cy="1188720"/>
          </a:xfrm>
          <a:prstGeom prst="roundRect">
            <a:avLst/>
          </a:prstGeom>
          <a:solidFill>
            <a:srgbClr val="1E2D3A"/>
          </a:solidFill>
          <a:ln>
            <a:solidFill>
              <a:srgbClr val="445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108960" y="2084832"/>
            <a:ext cx="163677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>
                <a:solidFill>
                  <a:srgbClr val="2BD68B"/>
                </a:solidFill>
                <a:latin typeface="Segoe UI Semibold"/>
              </a:defRPr>
            </a:pPr>
            <a:r>
              <a:t>5,66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2606040"/>
            <a:ext cx="16367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>
                <a:solidFill>
                  <a:srgbClr val="A9B7C2"/>
                </a:solidFill>
                <a:latin typeface="Segoe UI"/>
              </a:defRPr>
            </a:pPr>
            <a:r>
              <a:t>Алматы көрсеткіші, 2024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38928" y="1920240"/>
            <a:ext cx="1965960" cy="1188720"/>
          </a:xfrm>
          <a:prstGeom prst="roundRect">
            <a:avLst/>
          </a:prstGeom>
          <a:solidFill>
            <a:srgbClr val="1E2D3A"/>
          </a:solidFill>
          <a:ln>
            <a:solidFill>
              <a:srgbClr val="445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03520" y="2084832"/>
            <a:ext cx="163677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>
                <a:solidFill>
                  <a:srgbClr val="FFBE56"/>
                </a:solidFill>
                <a:latin typeface="Segoe UI Semibold"/>
              </a:defRPr>
            </a:pPr>
            <a:r>
              <a:t>7,42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2606040"/>
            <a:ext cx="16367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>
                <a:solidFill>
                  <a:srgbClr val="A9B7C2"/>
                </a:solidFill>
                <a:latin typeface="Segoe UI"/>
              </a:defRPr>
            </a:pPr>
            <a:r>
              <a:t>2010-2024 орташа мән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33488" y="1920240"/>
            <a:ext cx="1965960" cy="1188720"/>
          </a:xfrm>
          <a:prstGeom prst="roundRect">
            <a:avLst/>
          </a:prstGeom>
          <a:solidFill>
            <a:srgbClr val="1E2D3A"/>
          </a:solidFill>
          <a:ln>
            <a:solidFill>
              <a:srgbClr val="445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98079" y="2084832"/>
            <a:ext cx="163677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>
                <a:solidFill>
                  <a:srgbClr val="FF5C74"/>
                </a:solidFill>
                <a:latin typeface="Segoe UI Semibold"/>
              </a:defRPr>
            </a:pPr>
            <a:r>
              <a:t>9,95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2606040"/>
            <a:ext cx="16367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>
                <a:solidFill>
                  <a:srgbClr val="A9B7C2"/>
                </a:solidFill>
                <a:latin typeface="Segoe UI"/>
              </a:defRPr>
            </a:pPr>
            <a:r>
              <a:t>Ең жоғары мән: 2019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28048" y="1920240"/>
            <a:ext cx="1965960" cy="1188720"/>
          </a:xfrm>
          <a:prstGeom prst="roundRect">
            <a:avLst/>
          </a:prstGeom>
          <a:solidFill>
            <a:srgbClr val="1E2D3A"/>
          </a:solidFill>
          <a:ln>
            <a:solidFill>
              <a:srgbClr val="445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692640" y="2084832"/>
            <a:ext cx="163677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>
                <a:solidFill>
                  <a:srgbClr val="2BD68B"/>
                </a:solidFill>
                <a:latin typeface="Segoe UI Semibold"/>
              </a:defRPr>
            </a:pPr>
            <a:r>
              <a:t>4,36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0" y="2606040"/>
            <a:ext cx="16367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>
                <a:solidFill>
                  <a:srgbClr val="A9B7C2"/>
                </a:solidFill>
                <a:latin typeface="Segoe UI"/>
              </a:defRPr>
            </a:pPr>
            <a:r>
              <a:t>Ең төмен мән: 2020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9808" y="3657600"/>
            <a:ext cx="5212080" cy="1737360"/>
          </a:xfrm>
          <a:prstGeom prst="roundRect">
            <a:avLst/>
          </a:prstGeom>
          <a:solidFill>
            <a:srgbClr val="182B36"/>
          </a:solidFill>
          <a:ln>
            <a:solidFill>
              <a:srgbClr val="445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24128" y="3913632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F6FAFC"/>
                </a:solidFill>
                <a:latin typeface="Segoe UI Semibold"/>
              </a:defRPr>
            </a:pPr>
            <a:r>
              <a:t>2024 жылғы жоғары тәуекел жас топтары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51560" y="4498848"/>
            <a:ext cx="777240" cy="310896"/>
          </a:xfrm>
          <a:prstGeom prst="roundRect">
            <a:avLst/>
          </a:prstGeom>
          <a:solidFill>
            <a:srgbClr val="FF5C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1100">
                <a:solidFill>
                  <a:srgbClr val="0D161E"/>
                </a:solidFill>
                <a:latin typeface="Segoe UI Semibold"/>
              </a:defRPr>
            </a:pPr>
            <a:r>
              <a:t>55-59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965960" y="4498848"/>
            <a:ext cx="777240" cy="310896"/>
          </a:xfrm>
          <a:prstGeom prst="roundRect">
            <a:avLst/>
          </a:prstGeom>
          <a:solidFill>
            <a:srgbClr val="FFB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1100">
                <a:solidFill>
                  <a:srgbClr val="0D161E"/>
                </a:solidFill>
                <a:latin typeface="Segoe UI Semibold"/>
              </a:defRPr>
            </a:pPr>
            <a:r>
              <a:t>45-49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880360" y="4498848"/>
            <a:ext cx="777240" cy="310896"/>
          </a:xfrm>
          <a:prstGeom prst="roundRect">
            <a:avLst/>
          </a:prstGeom>
          <a:solidFill>
            <a:srgbClr val="3A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1100">
                <a:solidFill>
                  <a:srgbClr val="0D161E"/>
                </a:solidFill>
                <a:latin typeface="Segoe UI Semibold"/>
              </a:defRPr>
            </a:pPr>
            <a:r>
              <a:t>20-24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794760" y="4498848"/>
            <a:ext cx="777240" cy="310896"/>
          </a:xfrm>
          <a:prstGeom prst="roundRect">
            <a:avLst/>
          </a:prstGeom>
          <a:solidFill>
            <a:srgbClr val="2B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1100">
                <a:solidFill>
                  <a:srgbClr val="0D161E"/>
                </a:solidFill>
                <a:latin typeface="Segoe UI Semibold"/>
              </a:defRPr>
            </a:pPr>
            <a:r>
              <a:t>65-69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09160" y="4498848"/>
            <a:ext cx="777240" cy="310896"/>
          </a:xfrm>
          <a:prstGeom prst="roundRect">
            <a:avLst/>
          </a:prstGeom>
          <a:solidFill>
            <a:srgbClr val="3A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1100">
                <a:solidFill>
                  <a:srgbClr val="0D161E"/>
                </a:solidFill>
                <a:latin typeface="Segoe UI Semibold"/>
              </a:defRPr>
            </a:pPr>
            <a:r>
              <a:t>25-29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4128" y="499262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60">
                <a:solidFill>
                  <a:srgbClr val="A9B7C2"/>
                </a:solidFill>
                <a:latin typeface="Segoe UI"/>
              </a:defRPr>
            </a:pPr>
            <a:r>
              <a:t>Қорытынды: қауіп тек бір аудиторияға тән емес, сондықтан жүйе студенттерге, тұрғындарға, туристерге және кешкі уақытта жүретін қызметкерлерге пайдалы.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46520" y="3657600"/>
            <a:ext cx="4800600" cy="1737360"/>
          </a:xfrm>
          <a:prstGeom prst="roundRect">
            <a:avLst/>
          </a:prstGeom>
          <a:solidFill>
            <a:srgbClr val="182B36"/>
          </a:solidFill>
          <a:ln>
            <a:solidFill>
              <a:srgbClr val="445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720840" y="391363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F6FAFC"/>
                </a:solidFill>
                <a:latin typeface="Segoe UI Semibold"/>
              </a:defRPr>
            </a:pPr>
            <a:r>
              <a:t>SafeWay үшін талап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20840" y="4370832"/>
            <a:ext cx="4160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70">
                <a:solidFill>
                  <a:srgbClr val="A9B7C2"/>
                </a:solidFill>
                <a:latin typeface="Segoe UI"/>
              </a:defRPr>
            </a:pPr>
            <a:r>
              <a:t>маршруттың қауіпсіздік индексін көрсету;</a:t>
            </a:r>
          </a:p>
          <a:p>
            <a:pPr>
              <a:spcAft>
                <a:spcPts val="800"/>
              </a:spcAft>
              <a:defRPr sz="1170">
                <a:solidFill>
                  <a:srgbClr val="A9B7C2"/>
                </a:solidFill>
                <a:latin typeface="Segoe UI"/>
              </a:defRPr>
            </a:pPr>
            <a:r>
              <a:t>жарық, адам көп жүретін дәліз, полиция/аурухана сияқты факторларды картаға шығару;</a:t>
            </a:r>
          </a:p>
          <a:p>
            <a:pPr>
              <a:spcAft>
                <a:spcPts val="800"/>
              </a:spcAft>
              <a:defRPr sz="1170">
                <a:solidFill>
                  <a:srgbClr val="A9B7C2"/>
                </a:solidFill>
                <a:latin typeface="Segoe UI"/>
              </a:defRPr>
            </a:pPr>
            <a:r>
              <a:t>пайдаланушы хабарламалары арқылы деректі жаңарту.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B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784080" y="-228600"/>
            <a:ext cx="2286000" cy="2286000"/>
          </a:xfrm>
          <a:prstGeom prst="roundRect">
            <a:avLst/>
          </a:prstGeom>
          <a:solidFill>
            <a:srgbClr val="3A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561320" y="5212080"/>
            <a:ext cx="1645920" cy="1645920"/>
          </a:xfrm>
          <a:prstGeom prst="roundRect">
            <a:avLst/>
          </a:prstGeom>
          <a:solidFill>
            <a:srgbClr val="2B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5989320"/>
            <a:ext cx="1280160" cy="219456"/>
          </a:xfrm>
          <a:prstGeom prst="roundRect">
            <a:avLst/>
          </a:prstGeom>
          <a:solidFill>
            <a:srgbClr val="FFB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329184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2BD68B"/>
                </a:solidFill>
                <a:latin typeface="Segoe UI Semibold"/>
              </a:defRPr>
            </a:pPr>
            <a:r>
              <a:t>03 | АНАЛИТИКА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566928"/>
            <a:ext cx="996696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6FAFC"/>
                </a:solidFill>
                <a:latin typeface="Segoe UI Semibold"/>
              </a:defRPr>
            </a:pPr>
            <a:r>
              <a:t>Аналитикалық шолу: аналогтар және патенттік контекст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327648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9B7C2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6336792"/>
            <a:ext cx="4754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>
                <a:solidFill>
                  <a:srgbClr val="A9B7C2"/>
                </a:solidFill>
                <a:latin typeface="Segoe UI"/>
              </a:defRPr>
            </a:pPr>
            <a:r>
              <a:t>SafeWay | дипломдық жобаның алдын ала қорғауы |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1389888"/>
            <a:ext cx="1645920" cy="438912"/>
          </a:xfrm>
          <a:prstGeom prst="rect">
            <a:avLst/>
          </a:prstGeom>
          <a:solidFill>
            <a:srgbClr val="203340"/>
          </a:solidFill>
          <a:ln>
            <a:solidFill>
              <a:srgbClr val="445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5528" y="1499616"/>
            <a:ext cx="14813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>
                <a:solidFill>
                  <a:srgbClr val="2BD68B"/>
                </a:solidFill>
                <a:latin typeface="Segoe UI Semibold"/>
              </a:defRPr>
            </a:pPr>
            <a:r>
              <a:t>Шешім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59152" y="1389888"/>
            <a:ext cx="2606040" cy="438912"/>
          </a:xfrm>
          <a:prstGeom prst="rect">
            <a:avLst/>
          </a:prstGeom>
          <a:solidFill>
            <a:srgbClr val="203340"/>
          </a:solidFill>
          <a:ln>
            <a:solidFill>
              <a:srgbClr val="445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441448" y="1499616"/>
            <a:ext cx="24414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>
                <a:solidFill>
                  <a:srgbClr val="2BD68B"/>
                </a:solidFill>
                <a:latin typeface="Segoe UI Semibold"/>
              </a:defRPr>
            </a:pPr>
            <a:r>
              <a:t>Күшті жағы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65192" y="1389888"/>
            <a:ext cx="2606040" cy="438912"/>
          </a:xfrm>
          <a:prstGeom prst="rect">
            <a:avLst/>
          </a:prstGeom>
          <a:solidFill>
            <a:srgbClr val="203340"/>
          </a:solidFill>
          <a:ln>
            <a:solidFill>
              <a:srgbClr val="445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47488" y="1499616"/>
            <a:ext cx="24414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>
                <a:solidFill>
                  <a:srgbClr val="2BD68B"/>
                </a:solidFill>
                <a:latin typeface="Segoe UI Semibold"/>
              </a:defRPr>
            </a:pPr>
            <a:r>
              <a:t>Шектеуі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71231" y="1389888"/>
            <a:ext cx="3977639" cy="438912"/>
          </a:xfrm>
          <a:prstGeom prst="rect">
            <a:avLst/>
          </a:prstGeom>
          <a:solidFill>
            <a:srgbClr val="203340"/>
          </a:solidFill>
          <a:ln>
            <a:solidFill>
              <a:srgbClr val="445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653527" y="1499616"/>
            <a:ext cx="38130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>
                <a:solidFill>
                  <a:srgbClr val="2BD68B"/>
                </a:solidFill>
                <a:latin typeface="Segoe UI Semibold"/>
              </a:defRPr>
            </a:pPr>
            <a:r>
              <a:t>SafeWay айырмашылығы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3232" y="1828800"/>
            <a:ext cx="1645920" cy="694944"/>
          </a:xfrm>
          <a:prstGeom prst="rect">
            <a:avLst/>
          </a:prstGeom>
          <a:solidFill>
            <a:srgbClr val="172632"/>
          </a:solidFill>
          <a:ln>
            <a:solidFill>
              <a:srgbClr val="445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5528" y="1965960"/>
            <a:ext cx="14813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40">
                <a:solidFill>
                  <a:srgbClr val="F6FAFC"/>
                </a:solidFill>
                <a:latin typeface="Segoe UI Semibold"/>
              </a:defRPr>
            </a:pPr>
            <a:r>
              <a:t>Google Maps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59152" y="1828800"/>
            <a:ext cx="2606040" cy="694944"/>
          </a:xfrm>
          <a:prstGeom prst="rect">
            <a:avLst/>
          </a:prstGeom>
          <a:solidFill>
            <a:srgbClr val="172632"/>
          </a:solidFill>
          <a:ln>
            <a:solidFill>
              <a:srgbClr val="445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441448" y="1965960"/>
            <a:ext cx="2441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40">
                <a:solidFill>
                  <a:srgbClr val="A9B7C2"/>
                </a:solidFill>
                <a:latin typeface="Segoe UI"/>
              </a:defRPr>
            </a:pPr>
            <a:r>
              <a:t>кең карта және навигация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65192" y="1828800"/>
            <a:ext cx="2606040" cy="694944"/>
          </a:xfrm>
          <a:prstGeom prst="rect">
            <a:avLst/>
          </a:prstGeom>
          <a:solidFill>
            <a:srgbClr val="172632"/>
          </a:solidFill>
          <a:ln>
            <a:solidFill>
              <a:srgbClr val="445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47488" y="1965960"/>
            <a:ext cx="2441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40">
                <a:solidFill>
                  <a:srgbClr val="A9B7C2"/>
                </a:solidFill>
                <a:latin typeface="Segoe UI"/>
              </a:defRPr>
            </a:pPr>
            <a:r>
              <a:t>қауіпсіздік индексі жеке мақсат емес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71231" y="1828800"/>
            <a:ext cx="3977639" cy="694944"/>
          </a:xfrm>
          <a:prstGeom prst="rect">
            <a:avLst/>
          </a:prstGeom>
          <a:solidFill>
            <a:srgbClr val="172632"/>
          </a:solidFill>
          <a:ln>
            <a:solidFill>
              <a:srgbClr val="445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653527" y="1965960"/>
            <a:ext cx="3813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40">
                <a:solidFill>
                  <a:srgbClr val="A9B7C2"/>
                </a:solidFill>
                <a:latin typeface="Segoe UI"/>
              </a:defRPr>
            </a:pPr>
            <a:r>
              <a:t>risk/safe қабаттармен қайта бағалау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2523744"/>
            <a:ext cx="1645920" cy="694944"/>
          </a:xfrm>
          <a:prstGeom prst="rect">
            <a:avLst/>
          </a:prstGeom>
          <a:solidFill>
            <a:srgbClr val="142430"/>
          </a:solidFill>
          <a:ln>
            <a:solidFill>
              <a:srgbClr val="445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95528" y="2660904"/>
            <a:ext cx="14813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40">
                <a:solidFill>
                  <a:srgbClr val="F6FAFC"/>
                </a:solidFill>
                <a:latin typeface="Segoe UI Semibold"/>
              </a:defRPr>
            </a:pPr>
            <a:r>
              <a:t>2GIS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359152" y="2523744"/>
            <a:ext cx="2606040" cy="694944"/>
          </a:xfrm>
          <a:prstGeom prst="rect">
            <a:avLst/>
          </a:prstGeom>
          <a:solidFill>
            <a:srgbClr val="142430"/>
          </a:solidFill>
          <a:ln>
            <a:solidFill>
              <a:srgbClr val="445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441448" y="2660904"/>
            <a:ext cx="2441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40">
                <a:solidFill>
                  <a:srgbClr val="A9B7C2"/>
                </a:solidFill>
                <a:latin typeface="Segoe UI"/>
              </a:defRPr>
            </a:pPr>
            <a:r>
              <a:t>қала объектілері жақсы берілген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65192" y="2523744"/>
            <a:ext cx="2606040" cy="694944"/>
          </a:xfrm>
          <a:prstGeom prst="rect">
            <a:avLst/>
          </a:prstGeom>
          <a:solidFill>
            <a:srgbClr val="142430"/>
          </a:solidFill>
          <a:ln>
            <a:solidFill>
              <a:srgbClr val="445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47488" y="2660904"/>
            <a:ext cx="2441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40">
                <a:solidFill>
                  <a:srgbClr val="A9B7C2"/>
                </a:solidFill>
                <a:latin typeface="Segoe UI"/>
              </a:defRPr>
            </a:pPr>
            <a:r>
              <a:t>route safety логикасы шектеулі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71231" y="2523744"/>
            <a:ext cx="3977639" cy="694944"/>
          </a:xfrm>
          <a:prstGeom prst="rect">
            <a:avLst/>
          </a:prstGeom>
          <a:solidFill>
            <a:srgbClr val="142430"/>
          </a:solidFill>
          <a:ln>
            <a:solidFill>
              <a:srgbClr val="445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653527" y="2660904"/>
            <a:ext cx="3813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40">
                <a:solidFill>
                  <a:srgbClr val="A9B7C2"/>
                </a:solidFill>
                <a:latin typeface="Segoe UI"/>
              </a:defRPr>
            </a:pPr>
            <a:r>
              <a:t>Алматыға бейімделген қауіп деректері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13232" y="3218688"/>
            <a:ext cx="1645920" cy="694944"/>
          </a:xfrm>
          <a:prstGeom prst="rect">
            <a:avLst/>
          </a:prstGeom>
          <a:solidFill>
            <a:srgbClr val="172632"/>
          </a:solidFill>
          <a:ln>
            <a:solidFill>
              <a:srgbClr val="445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95528" y="3355848"/>
            <a:ext cx="14813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40">
                <a:solidFill>
                  <a:srgbClr val="F6FAFC"/>
                </a:solidFill>
                <a:latin typeface="Segoe UI Semibold"/>
              </a:defRPr>
            </a:pPr>
            <a:r>
              <a:t>Waze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359152" y="3218688"/>
            <a:ext cx="2606040" cy="694944"/>
          </a:xfrm>
          <a:prstGeom prst="rect">
            <a:avLst/>
          </a:prstGeom>
          <a:solidFill>
            <a:srgbClr val="172632"/>
          </a:solidFill>
          <a:ln>
            <a:solidFill>
              <a:srgbClr val="445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441448" y="3355848"/>
            <a:ext cx="2441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40">
                <a:solidFill>
                  <a:srgbClr val="A9B7C2"/>
                </a:solidFill>
                <a:latin typeface="Segoe UI"/>
              </a:defRPr>
            </a:pPr>
            <a:r>
              <a:t>қауымдастық хабарламалары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65192" y="3218688"/>
            <a:ext cx="2606040" cy="694944"/>
          </a:xfrm>
          <a:prstGeom prst="rect">
            <a:avLst/>
          </a:prstGeom>
          <a:solidFill>
            <a:srgbClr val="172632"/>
          </a:solidFill>
          <a:ln>
            <a:solidFill>
              <a:srgbClr val="445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047488" y="3355848"/>
            <a:ext cx="2441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40">
                <a:solidFill>
                  <a:srgbClr val="A9B7C2"/>
                </a:solidFill>
                <a:latin typeface="Segoe UI"/>
              </a:defRPr>
            </a:pPr>
            <a:r>
              <a:t>көбіне автокөлікке бағытталған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571231" y="3218688"/>
            <a:ext cx="3977639" cy="694944"/>
          </a:xfrm>
          <a:prstGeom prst="rect">
            <a:avLst/>
          </a:prstGeom>
          <a:solidFill>
            <a:srgbClr val="172632"/>
          </a:solidFill>
          <a:ln>
            <a:solidFill>
              <a:srgbClr val="445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653527" y="3355848"/>
            <a:ext cx="3813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40">
                <a:solidFill>
                  <a:srgbClr val="A9B7C2"/>
                </a:solidFill>
                <a:latin typeface="Segoe UI"/>
              </a:defRPr>
            </a:pPr>
            <a:r>
              <a:t>жаяу, bike, scooter профильдері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13232" y="3913632"/>
            <a:ext cx="1645920" cy="694944"/>
          </a:xfrm>
          <a:prstGeom prst="rect">
            <a:avLst/>
          </a:prstGeom>
          <a:solidFill>
            <a:srgbClr val="142430"/>
          </a:solidFill>
          <a:ln>
            <a:solidFill>
              <a:srgbClr val="445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95528" y="4050791"/>
            <a:ext cx="14813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40">
                <a:solidFill>
                  <a:srgbClr val="F6FAFC"/>
                </a:solidFill>
                <a:latin typeface="Segoe UI Semibold"/>
              </a:defRPr>
            </a:pPr>
            <a:r>
              <a:t>OSM/OSRM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359152" y="3913632"/>
            <a:ext cx="2606040" cy="694944"/>
          </a:xfrm>
          <a:prstGeom prst="rect">
            <a:avLst/>
          </a:prstGeom>
          <a:solidFill>
            <a:srgbClr val="142430"/>
          </a:solidFill>
          <a:ln>
            <a:solidFill>
              <a:srgbClr val="445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2441448" y="4050791"/>
            <a:ext cx="2441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40">
                <a:solidFill>
                  <a:srgbClr val="A9B7C2"/>
                </a:solidFill>
                <a:latin typeface="Segoe UI"/>
              </a:defRPr>
            </a:pPr>
            <a:r>
              <a:t>ашық дерек және routing API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65192" y="3913632"/>
            <a:ext cx="2606040" cy="694944"/>
          </a:xfrm>
          <a:prstGeom prst="rect">
            <a:avLst/>
          </a:prstGeom>
          <a:solidFill>
            <a:srgbClr val="142430"/>
          </a:solidFill>
          <a:ln>
            <a:solidFill>
              <a:srgbClr val="445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047488" y="4050791"/>
            <a:ext cx="2441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40">
                <a:solidFill>
                  <a:srgbClr val="A9B7C2"/>
                </a:solidFill>
                <a:latin typeface="Segoe UI"/>
              </a:defRPr>
            </a:pPr>
            <a:r>
              <a:t>қауіпсіздік scoring жоқ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571231" y="3913632"/>
            <a:ext cx="3977639" cy="694944"/>
          </a:xfrm>
          <a:prstGeom prst="rect">
            <a:avLst/>
          </a:prstGeom>
          <a:solidFill>
            <a:srgbClr val="142430"/>
          </a:solidFill>
          <a:ln>
            <a:solidFill>
              <a:srgbClr val="445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653527" y="4050791"/>
            <a:ext cx="3813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40">
                <a:solidFill>
                  <a:srgbClr val="A9B7C2"/>
                </a:solidFill>
                <a:latin typeface="Segoe UI"/>
              </a:defRPr>
            </a:pPr>
            <a:r>
              <a:t>OSRM нәтижесін safety score арқылы сұрыптау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13232" y="4617720"/>
            <a:ext cx="5074920" cy="987552"/>
          </a:xfrm>
          <a:prstGeom prst="roundRect">
            <a:avLst/>
          </a:prstGeom>
          <a:solidFill>
            <a:srgbClr val="182B36"/>
          </a:solidFill>
          <a:ln>
            <a:solidFill>
              <a:srgbClr val="445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60120" y="48280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>
                <a:solidFill>
                  <a:srgbClr val="2BD68B"/>
                </a:solidFill>
                <a:latin typeface="Segoe UI Semibold"/>
              </a:defRPr>
            </a:pPr>
            <a:r>
              <a:t>Ғылыми контекст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514600" y="4727448"/>
            <a:ext cx="2834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>
                <a:solidFill>
                  <a:srgbClr val="F6FAFC"/>
                </a:solidFill>
                <a:latin typeface="Segoe UI"/>
              </a:defRPr>
            </a:pPr>
            <a:r>
              <a:t>Жоба GIS, spatial analysis, smart map және route scoring ұғымдарына сүйенеді: маршрут геометриясы қауіп/қауіпсіздік қабаттарымен салыстырылады.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989320" y="4617720"/>
            <a:ext cx="5376672" cy="987552"/>
          </a:xfrm>
          <a:prstGeom prst="roundRect">
            <a:avLst/>
          </a:prstGeom>
          <a:solidFill>
            <a:srgbClr val="182B36"/>
          </a:solidFill>
          <a:ln>
            <a:solidFill>
              <a:srgbClr val="445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236208" y="4828032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>
                <a:solidFill>
                  <a:srgbClr val="2BD68B"/>
                </a:solidFill>
                <a:latin typeface="Segoe UI Semibold"/>
              </a:defRPr>
            </a:pPr>
            <a:r>
              <a:t>Патенттік шолу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99248" y="4727448"/>
            <a:ext cx="3246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>
                <a:solidFill>
                  <a:srgbClr val="F6FAFC"/>
                </a:solidFill>
                <a:latin typeface="Segoe UI"/>
              </a:defRPr>
            </a:pPr>
            <a:r>
              <a:t>Safety metrics, route risk mitigation және safe routing бағытындағы патенттер бар. SafeWay дайын алгоритмді көшірмей, ашық сервистер мен өз scoring формуласын қолданады.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B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784080" y="-228600"/>
            <a:ext cx="2286000" cy="2286000"/>
          </a:xfrm>
          <a:prstGeom prst="roundRect">
            <a:avLst/>
          </a:prstGeom>
          <a:solidFill>
            <a:srgbClr val="3A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561320" y="5212080"/>
            <a:ext cx="1645920" cy="1645920"/>
          </a:xfrm>
          <a:prstGeom prst="roundRect">
            <a:avLst/>
          </a:prstGeom>
          <a:solidFill>
            <a:srgbClr val="2B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5989320"/>
            <a:ext cx="1280160" cy="219456"/>
          </a:xfrm>
          <a:prstGeom prst="roundRect">
            <a:avLst/>
          </a:prstGeom>
          <a:solidFill>
            <a:srgbClr val="FFB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329184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2BD68B"/>
                </a:solidFill>
                <a:latin typeface="Segoe UI Semibold"/>
              </a:defRPr>
            </a:pPr>
            <a:r>
              <a:t>04 | МӘСЕЛЕ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566928"/>
            <a:ext cx="996696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6FAFC"/>
                </a:solidFill>
                <a:latin typeface="Segoe UI Semibold"/>
              </a:defRPr>
            </a:pPr>
            <a:r>
              <a:t>Міндеттің қойылуы: проблема және шешу жолы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327648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9B7C2"/>
                </a:solidFill>
                <a:latin typeface="Segoe UI"/>
              </a:defRPr>
            </a:pPr>
            <a:r>
              <a:t>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6336792"/>
            <a:ext cx="4754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>
                <a:solidFill>
                  <a:srgbClr val="A9B7C2"/>
                </a:solidFill>
                <a:latin typeface="Segoe UI"/>
              </a:defRPr>
            </a:pPr>
            <a:r>
              <a:t>SafeWay | дипломдық жобаның алдын ала қорғауы |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1417320"/>
            <a:ext cx="3246120" cy="4160520"/>
          </a:xfrm>
          <a:prstGeom prst="roundRect">
            <a:avLst/>
          </a:prstGeom>
          <a:solidFill>
            <a:srgbClr val="1B2A35"/>
          </a:solidFill>
          <a:ln>
            <a:solidFill>
              <a:srgbClr val="445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173736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>
                <a:solidFill>
                  <a:srgbClr val="FF5C74"/>
                </a:solidFill>
                <a:latin typeface="Segoe UI Semibold"/>
              </a:defRPr>
            </a:pPr>
            <a:r>
              <a:t>Проблема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331720"/>
            <a:ext cx="26060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6FAFC"/>
                </a:solidFill>
                <a:latin typeface="Segoe UI"/>
              </a:defRPr>
            </a:pPr>
            <a:r>
              <a:t>Дәстүрлі навигация көбіне қысқа немесе жылдам жолды таңдайды.</a:t>
            </a:r>
          </a:p>
          <a:p>
            <a:pPr>
              <a:spcAft>
                <a:spcPts val="800"/>
              </a:spcAft>
              <a:defRPr sz="1400">
                <a:solidFill>
                  <a:srgbClr val="F6FAFC"/>
                </a:solidFill>
                <a:latin typeface="Segoe UI"/>
              </a:defRPr>
            </a:pPr>
            <a:r>
              <a:t>Жаяу жүргінші үшін жарық, адам ағыны, жер асты өткелі, жөндеу, полиция және оқиға хабарламалары маңызды.</a:t>
            </a:r>
          </a:p>
          <a:p>
            <a:pPr>
              <a:spcAft>
                <a:spcPts val="800"/>
              </a:spcAft>
              <a:defRPr sz="1400">
                <a:solidFill>
                  <a:srgbClr val="F6FAFC"/>
                </a:solidFill>
                <a:latin typeface="Segoe UI"/>
              </a:defRPr>
            </a:pPr>
            <a:r>
              <a:t>Қауіп туралы дерек әртүрлі көзде шашыраңқы орналасқан.</a:t>
            </a:r>
          </a:p>
        </p:txBody>
      </p:sp>
      <p:cxnSp>
        <p:nvCxnSpPr>
          <p:cNvPr id="14" name="Connector 13"/>
          <p:cNvCxnSpPr>
            <a:cxnSpLocks/>
          </p:cNvCxnSpPr>
          <p:nvPr/>
        </p:nvCxnSpPr>
        <p:spPr>
          <a:xfrm>
            <a:off x="4251960" y="3520440"/>
            <a:ext cx="306788" cy="0"/>
          </a:xfrm>
          <a:prstGeom prst="line">
            <a:avLst/>
          </a:prstGeom>
          <a:ln w="20320">
            <a:solidFill>
              <a:srgbClr val="3AB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739641" y="1417320"/>
            <a:ext cx="3246120" cy="4160520"/>
          </a:xfrm>
          <a:prstGeom prst="roundRect">
            <a:avLst/>
          </a:prstGeom>
          <a:solidFill>
            <a:srgbClr val="142430"/>
          </a:solidFill>
          <a:ln>
            <a:solidFill>
              <a:srgbClr val="445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0" y="173736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>
                <a:solidFill>
                  <a:srgbClr val="3AB8FF"/>
                </a:solidFill>
                <a:latin typeface="Segoe UI Semibold"/>
              </a:defRPr>
            </a:pPr>
            <a:r>
              <a:t>Әдіс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77848" y="2404872"/>
            <a:ext cx="2769705" cy="21313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50">
                <a:solidFill>
                  <a:srgbClr val="F6FAFC"/>
                </a:solidFill>
                <a:latin typeface="Segoe UI"/>
              </a:defRPr>
            </a:pPr>
            <a:r>
              <a:rPr dirty="0"/>
              <a:t>1. OSRM </a:t>
            </a:r>
            <a:r>
              <a:rPr dirty="0" err="1"/>
              <a:t>нақты</a:t>
            </a:r>
            <a:r>
              <a:rPr dirty="0"/>
              <a:t> </a:t>
            </a:r>
            <a:r>
              <a:rPr dirty="0" err="1"/>
              <a:t>жол</a:t>
            </a:r>
            <a:r>
              <a:rPr dirty="0"/>
              <a:t> </a:t>
            </a:r>
            <a:r>
              <a:rPr dirty="0" err="1"/>
              <a:t>геометриясын</a:t>
            </a:r>
            <a:r>
              <a:rPr dirty="0"/>
              <a:t> </a:t>
            </a:r>
            <a:r>
              <a:rPr dirty="0" err="1"/>
              <a:t>береді</a:t>
            </a:r>
            <a:r>
              <a:rPr dirty="0"/>
              <a:t>.</a:t>
            </a:r>
          </a:p>
          <a:p>
            <a:pPr>
              <a:spcAft>
                <a:spcPts val="800"/>
              </a:spcAft>
              <a:defRPr sz="1250">
                <a:solidFill>
                  <a:srgbClr val="F6FAFC"/>
                </a:solidFill>
                <a:latin typeface="Segoe UI"/>
              </a:defRPr>
            </a:pPr>
            <a:r>
              <a:rPr dirty="0"/>
              <a:t>2. Backend </a:t>
            </a:r>
            <a:r>
              <a:rPr dirty="0" err="1"/>
              <a:t>қауіп</a:t>
            </a:r>
            <a:r>
              <a:rPr dirty="0"/>
              <a:t> </a:t>
            </a:r>
            <a:r>
              <a:rPr dirty="0" err="1"/>
              <a:t>және</a:t>
            </a:r>
            <a:r>
              <a:rPr dirty="0"/>
              <a:t> </a:t>
            </a:r>
            <a:r>
              <a:rPr dirty="0" err="1"/>
              <a:t>қауіпсіз</a:t>
            </a:r>
            <a:r>
              <a:rPr dirty="0"/>
              <a:t> </a:t>
            </a:r>
            <a:r>
              <a:rPr dirty="0" err="1"/>
              <a:t>қабаттарды</a:t>
            </a:r>
            <a:r>
              <a:rPr dirty="0"/>
              <a:t> </a:t>
            </a:r>
            <a:r>
              <a:rPr dirty="0" err="1"/>
              <a:t>жүктейді</a:t>
            </a:r>
            <a:r>
              <a:rPr dirty="0"/>
              <a:t>.</a:t>
            </a:r>
          </a:p>
          <a:p>
            <a:pPr>
              <a:spcAft>
                <a:spcPts val="800"/>
              </a:spcAft>
              <a:defRPr sz="1250">
                <a:solidFill>
                  <a:srgbClr val="F6FAFC"/>
                </a:solidFill>
                <a:latin typeface="Segoe UI"/>
              </a:defRPr>
            </a:pPr>
            <a:r>
              <a:rPr dirty="0"/>
              <a:t>3. Scoring route geometry </a:t>
            </a:r>
            <a:r>
              <a:rPr dirty="0" err="1"/>
              <a:t>мен</a:t>
            </a:r>
            <a:r>
              <a:rPr dirty="0"/>
              <a:t> </a:t>
            </a:r>
            <a:r>
              <a:rPr dirty="0" err="1"/>
              <a:t>қауіп</a:t>
            </a:r>
            <a:r>
              <a:rPr dirty="0"/>
              <a:t> </a:t>
            </a:r>
            <a:r>
              <a:rPr dirty="0" err="1"/>
              <a:t>нүктелерінің</a:t>
            </a:r>
            <a:r>
              <a:rPr dirty="0"/>
              <a:t> </a:t>
            </a:r>
            <a:r>
              <a:rPr dirty="0" err="1"/>
              <a:t>жақындығын</a:t>
            </a:r>
            <a:r>
              <a:rPr dirty="0"/>
              <a:t> </a:t>
            </a:r>
            <a:r>
              <a:rPr dirty="0" err="1"/>
              <a:t>есептейді</a:t>
            </a:r>
            <a:r>
              <a:rPr dirty="0"/>
              <a:t>.</a:t>
            </a:r>
          </a:p>
          <a:p>
            <a:pPr>
              <a:spcAft>
                <a:spcPts val="800"/>
              </a:spcAft>
              <a:defRPr sz="1250">
                <a:solidFill>
                  <a:srgbClr val="F6FAFC"/>
                </a:solidFill>
                <a:latin typeface="Segoe UI"/>
              </a:defRPr>
            </a:pPr>
            <a:r>
              <a:rPr dirty="0"/>
              <a:t>4. Route </a:t>
            </a:r>
            <a:r>
              <a:rPr dirty="0" err="1"/>
              <a:t>safetyScore</a:t>
            </a:r>
            <a:r>
              <a:rPr dirty="0"/>
              <a:t> </a:t>
            </a:r>
            <a:r>
              <a:rPr dirty="0" err="1"/>
              <a:t>бойынша</a:t>
            </a:r>
            <a:r>
              <a:rPr dirty="0"/>
              <a:t> </a:t>
            </a:r>
            <a:r>
              <a:rPr dirty="0" err="1"/>
              <a:t>сұрыпталады</a:t>
            </a:r>
            <a:r>
              <a:rPr dirty="0"/>
              <a:t>.</a:t>
            </a:r>
          </a:p>
        </p:txBody>
      </p:sp>
      <p:cxnSp>
        <p:nvCxnSpPr>
          <p:cNvPr id="18" name="Connector 17"/>
          <p:cNvCxnSpPr>
            <a:cxnSpLocks/>
          </p:cNvCxnSpPr>
          <p:nvPr/>
        </p:nvCxnSpPr>
        <p:spPr>
          <a:xfrm>
            <a:off x="8090452" y="3520440"/>
            <a:ext cx="93427" cy="0"/>
          </a:xfrm>
          <a:prstGeom prst="line">
            <a:avLst/>
          </a:prstGeom>
          <a:ln w="20320">
            <a:solidFill>
              <a:srgbClr val="3AB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366760" y="1417320"/>
            <a:ext cx="2971800" cy="4160520"/>
          </a:xfrm>
          <a:prstGeom prst="roundRect">
            <a:avLst/>
          </a:prstGeom>
          <a:solidFill>
            <a:srgbClr val="1B2A35"/>
          </a:solidFill>
          <a:ln>
            <a:solidFill>
              <a:srgbClr val="445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41080" y="173736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>
                <a:solidFill>
                  <a:srgbClr val="2BD68B"/>
                </a:solidFill>
                <a:latin typeface="Segoe UI Semibold"/>
              </a:defRPr>
            </a:pPr>
            <a:r>
              <a:t>Нәтиже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2331720"/>
            <a:ext cx="2331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6FAFC"/>
                </a:solidFill>
                <a:latin typeface="Segoe UI"/>
              </a:defRPr>
            </a:pPr>
            <a:r>
              <a:t>Пайдаланушы қауіпсіздік индексі бар ұсынылған маршрутты көреді.</a:t>
            </a:r>
          </a:p>
          <a:p>
            <a:pPr>
              <a:spcAft>
                <a:spcPts val="800"/>
              </a:spcAft>
              <a:defRPr sz="1400">
                <a:solidFill>
                  <a:srgbClr val="F6FAFC"/>
                </a:solidFill>
                <a:latin typeface="Segoe UI"/>
              </a:defRPr>
            </a:pPr>
            <a:r>
              <a:t>Картада risk zones, user reports, lit streets, crowded corridors және safe places қабаттары қосылады.</a:t>
            </a:r>
          </a:p>
          <a:p>
            <a:pPr>
              <a:spcAft>
                <a:spcPts val="800"/>
              </a:spcAft>
              <a:defRPr sz="1400">
                <a:solidFill>
                  <a:srgbClr val="F6FAFC"/>
                </a:solidFill>
                <a:latin typeface="Segoe UI"/>
              </a:defRPr>
            </a:pPr>
            <a:r>
              <a:t>Қосымша guest mode және account mode арқылы жұмыс істейді.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05088" y="4828032"/>
            <a:ext cx="2011680" cy="310896"/>
          </a:xfrm>
          <a:prstGeom prst="roundRect">
            <a:avLst/>
          </a:prstGeom>
          <a:solidFill>
            <a:srgbClr val="FFB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1050">
                <a:solidFill>
                  <a:srgbClr val="0D161E"/>
                </a:solidFill>
                <a:latin typeface="Segoe UI Semibold"/>
              </a:defRPr>
            </a:pPr>
            <a:r>
              <a:t>Қысқа жол ≠ қауіпсіз жол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B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784080" y="-228600"/>
            <a:ext cx="2286000" cy="2286000"/>
          </a:xfrm>
          <a:prstGeom prst="roundRect">
            <a:avLst/>
          </a:prstGeom>
          <a:solidFill>
            <a:srgbClr val="3A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561320" y="5212080"/>
            <a:ext cx="1645920" cy="1645920"/>
          </a:xfrm>
          <a:prstGeom prst="roundRect">
            <a:avLst/>
          </a:prstGeom>
          <a:solidFill>
            <a:srgbClr val="2B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5989320"/>
            <a:ext cx="1280160" cy="219456"/>
          </a:xfrm>
          <a:prstGeom prst="roundRect">
            <a:avLst/>
          </a:prstGeom>
          <a:solidFill>
            <a:srgbClr val="FFB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329184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2BD68B"/>
                </a:solidFill>
                <a:latin typeface="Segoe UI Semibold"/>
              </a:defRPr>
            </a:pPr>
            <a:r>
              <a:t>05 | ШЕШІМ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566928"/>
            <a:ext cx="996696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6FAFC"/>
                </a:solidFill>
                <a:latin typeface="Segoe UI Semibold"/>
              </a:defRPr>
            </a:pPr>
            <a:r>
              <a:t>Жүйе архитектурасы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327648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9B7C2"/>
                </a:solidFill>
                <a:latin typeface="Segoe UI"/>
              </a:defRPr>
            </a:pPr>
            <a:r>
              <a:t>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6336792"/>
            <a:ext cx="4754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>
                <a:solidFill>
                  <a:srgbClr val="A9B7C2"/>
                </a:solidFill>
                <a:latin typeface="Segoe UI"/>
              </a:defRPr>
            </a:pPr>
            <a:r>
              <a:t>SafeWay | дипломдық жобаның алдын ала қорғауы |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2011680"/>
            <a:ext cx="2148840" cy="1572768"/>
          </a:xfrm>
          <a:prstGeom prst="roundRect">
            <a:avLst/>
          </a:prstGeom>
          <a:solidFill>
            <a:srgbClr val="182B36"/>
          </a:solidFill>
          <a:ln>
            <a:solidFill>
              <a:srgbClr val="445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69848" y="2212848"/>
            <a:ext cx="1371600" cy="310896"/>
          </a:xfrm>
          <a:prstGeom prst="roundRect">
            <a:avLst/>
          </a:prstGeom>
          <a:solidFill>
            <a:srgbClr val="3A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919">
                <a:solidFill>
                  <a:srgbClr val="0D161E"/>
                </a:solidFill>
                <a:latin typeface="Segoe UI Semibold"/>
              </a:defRPr>
            </a:pPr>
            <a:r>
              <a:t>Mobile 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670048"/>
            <a:ext cx="1691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70">
                <a:solidFill>
                  <a:srgbClr val="F6FAFC"/>
                </a:solidFill>
                <a:latin typeface="Segoe UI"/>
              </a:defRPr>
            </a:pPr>
            <a:r>
              <a:t>React Native / Expo</a:t>
            </a:r>
            <a:br/>
            <a:r>
              <a:t>карта, іздеу, профиль,</a:t>
            </a:r>
            <a:br/>
            <a:r>
              <a:t>қабаттар, маршрут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0" y="2011680"/>
            <a:ext cx="2148840" cy="1572768"/>
          </a:xfrm>
          <a:prstGeom prst="roundRect">
            <a:avLst/>
          </a:prstGeom>
          <a:solidFill>
            <a:srgbClr val="182B36"/>
          </a:solidFill>
          <a:ln>
            <a:solidFill>
              <a:srgbClr val="445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858768" y="2212848"/>
            <a:ext cx="1371600" cy="310896"/>
          </a:xfrm>
          <a:prstGeom prst="roundRect">
            <a:avLst/>
          </a:prstGeom>
          <a:solidFill>
            <a:srgbClr val="2B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919">
                <a:solidFill>
                  <a:srgbClr val="0D161E"/>
                </a:solidFill>
                <a:latin typeface="Segoe UI Semibold"/>
              </a:defRPr>
            </a:pPr>
            <a:r>
              <a:t>Backend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86200" y="2670048"/>
            <a:ext cx="1691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70">
                <a:solidFill>
                  <a:srgbClr val="F6FAFC"/>
                </a:solidFill>
                <a:latin typeface="Segoe UI"/>
              </a:defRPr>
            </a:pPr>
            <a:r>
              <a:t>Node.js / Express</a:t>
            </a:r>
            <a:br/>
            <a:r>
              <a:t>валидация, routing,</a:t>
            </a:r>
            <a:br/>
            <a:r>
              <a:t>scoring, auth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2011680"/>
            <a:ext cx="2148840" cy="1572768"/>
          </a:xfrm>
          <a:prstGeom prst="roundRect">
            <a:avLst/>
          </a:prstGeom>
          <a:solidFill>
            <a:srgbClr val="182B36"/>
          </a:solidFill>
          <a:ln>
            <a:solidFill>
              <a:srgbClr val="445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647688" y="2212848"/>
            <a:ext cx="1371600" cy="310896"/>
          </a:xfrm>
          <a:prstGeom prst="roundRect">
            <a:avLst/>
          </a:prstGeom>
          <a:solidFill>
            <a:srgbClr val="FFB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919">
                <a:solidFill>
                  <a:srgbClr val="0D161E"/>
                </a:solidFill>
                <a:latin typeface="Segoe UI Semibold"/>
              </a:defRPr>
            </a:pPr>
            <a:r>
              <a:t>PostgreSQL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2670048"/>
            <a:ext cx="1691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70">
                <a:solidFill>
                  <a:srgbClr val="F6FAFC"/>
                </a:solidFill>
                <a:latin typeface="Segoe UI"/>
              </a:defRPr>
            </a:pPr>
            <a:r>
              <a:t>risk_zones, safe_places,</a:t>
            </a:r>
            <a:br/>
            <a:r>
              <a:t>map_features, reports,</a:t>
            </a:r>
            <a:br/>
            <a:r>
              <a:t>users, preferences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2011680"/>
            <a:ext cx="2148840" cy="1572768"/>
          </a:xfrm>
          <a:prstGeom prst="roundRect">
            <a:avLst/>
          </a:prstGeom>
          <a:solidFill>
            <a:srgbClr val="182B36"/>
          </a:solidFill>
          <a:ln>
            <a:solidFill>
              <a:srgbClr val="445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436608" y="2212848"/>
            <a:ext cx="1371600" cy="310896"/>
          </a:xfrm>
          <a:prstGeom prst="roundRect">
            <a:avLst/>
          </a:prstGeom>
          <a:solidFill>
            <a:srgbClr val="FF5C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919">
                <a:solidFill>
                  <a:srgbClr val="0D161E"/>
                </a:solidFill>
                <a:latin typeface="Segoe UI Semibold"/>
              </a:defRPr>
            </a:pPr>
            <a:r>
              <a:t>External services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64040" y="2670048"/>
            <a:ext cx="1691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70">
                <a:solidFill>
                  <a:srgbClr val="F6FAFC"/>
                </a:solidFill>
                <a:latin typeface="Segoe UI"/>
              </a:defRPr>
            </a:pPr>
            <a:r>
              <a:t>OSRM, OSM/CARTO,</a:t>
            </a:r>
            <a:br/>
            <a:r>
              <a:t>Nominatim, Overpass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017520" y="2798064"/>
            <a:ext cx="548640" cy="0"/>
          </a:xfrm>
          <a:prstGeom prst="line">
            <a:avLst/>
          </a:prstGeom>
          <a:ln w="20320">
            <a:solidFill>
              <a:srgbClr val="2BD6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806440" y="2798064"/>
            <a:ext cx="548640" cy="0"/>
          </a:xfrm>
          <a:prstGeom prst="line">
            <a:avLst/>
          </a:prstGeom>
          <a:ln w="20320">
            <a:solidFill>
              <a:srgbClr val="2BD6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595360" y="2798064"/>
            <a:ext cx="548640" cy="0"/>
          </a:xfrm>
          <a:prstGeom prst="line">
            <a:avLst/>
          </a:prstGeom>
          <a:ln w="20320">
            <a:solidFill>
              <a:srgbClr val="2BD6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234440" y="4343400"/>
            <a:ext cx="9738360" cy="914400"/>
          </a:xfrm>
          <a:prstGeom prst="roundRect">
            <a:avLst/>
          </a:prstGeom>
          <a:solidFill>
            <a:srgbClr val="142430"/>
          </a:solidFill>
          <a:ln>
            <a:solidFill>
              <a:srgbClr val="445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508760" y="4553712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2BD68B"/>
                </a:solidFill>
                <a:latin typeface="Segoe UI Semibold"/>
              </a:defRPr>
            </a:pPr>
            <a:r>
              <a:t>Деректер ағыны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80360" y="4526280"/>
            <a:ext cx="7543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20">
                <a:solidFill>
                  <a:srgbClr val="F6FAFC"/>
                </a:solidFill>
                <a:latin typeface="Segoe UI"/>
              </a:defRPr>
            </a:pPr>
            <a:r>
              <a:t>Қолданушы әрекеті → HTTP сұраныс → маршрут және қабат деректері → safety scoring → JSON жауап → картадағы визуализация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B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784080" y="-228600"/>
            <a:ext cx="2286000" cy="2286000"/>
          </a:xfrm>
          <a:prstGeom prst="roundRect">
            <a:avLst/>
          </a:prstGeom>
          <a:solidFill>
            <a:srgbClr val="3A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561320" y="5212080"/>
            <a:ext cx="1645920" cy="1645920"/>
          </a:xfrm>
          <a:prstGeom prst="roundRect">
            <a:avLst/>
          </a:prstGeom>
          <a:solidFill>
            <a:srgbClr val="2B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5989320"/>
            <a:ext cx="1280160" cy="219456"/>
          </a:xfrm>
          <a:prstGeom prst="roundRect">
            <a:avLst/>
          </a:prstGeom>
          <a:solidFill>
            <a:srgbClr val="FFB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329184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2BD68B"/>
                </a:solidFill>
                <a:latin typeface="Segoe UI Semibold"/>
              </a:defRPr>
            </a:pPr>
            <a:r>
              <a:t>06 | АЛГОРИТМ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566928"/>
            <a:ext cx="996696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6FAFC"/>
                </a:solidFill>
                <a:latin typeface="Segoe UI Semibold"/>
              </a:defRPr>
            </a:pPr>
            <a:r>
              <a:t>Қауіпсіздік индексін есептеу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327648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9B7C2"/>
                </a:solidFill>
                <a:latin typeface="Segoe UI"/>
              </a:defRPr>
            </a:pPr>
            <a:r>
              <a:t>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6336792"/>
            <a:ext cx="4754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>
                <a:solidFill>
                  <a:srgbClr val="A9B7C2"/>
                </a:solidFill>
                <a:latin typeface="Segoe UI"/>
              </a:defRPr>
            </a:pPr>
            <a:r>
              <a:t>SafeWay | дипломдық жобаның алдын ала қорғауы |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389888"/>
            <a:ext cx="4709160" cy="4434840"/>
          </a:xfrm>
          <a:prstGeom prst="roundRect">
            <a:avLst/>
          </a:prstGeom>
          <a:solidFill>
            <a:srgbClr val="182B36"/>
          </a:solidFill>
          <a:ln>
            <a:solidFill>
              <a:srgbClr val="445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51560" y="1664208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2BD68B"/>
                </a:solidFill>
                <a:latin typeface="Segoe UI Semibold"/>
              </a:defRPr>
            </a:pPr>
            <a:r>
              <a:t>Scoring логикасы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148840"/>
            <a:ext cx="4069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20">
                <a:solidFill>
                  <a:srgbClr val="F6FAFC"/>
                </a:solidFill>
                <a:latin typeface="Segoe UI"/>
              </a:defRPr>
            </a:pPr>
            <a:r>
              <a:t>riskHits: маршрутқа жақын risk_zones және user_reports.</a:t>
            </a:r>
          </a:p>
          <a:p>
            <a:pPr>
              <a:spcAft>
                <a:spcPts val="800"/>
              </a:spcAft>
              <a:defRPr sz="1320">
                <a:solidFill>
                  <a:srgbClr val="F6FAFC"/>
                </a:solidFill>
                <a:latin typeface="Segoe UI"/>
              </a:defRPr>
            </a:pPr>
            <a:r>
              <a:t>penalty: severity, қашықтық, avoid таңдауы және түнгі poor_lighting multiplier арқылы өседі.</a:t>
            </a:r>
          </a:p>
          <a:p>
            <a:pPr>
              <a:spcAft>
                <a:spcPts val="800"/>
              </a:spcAft>
              <a:defRPr sz="1320">
                <a:solidFill>
                  <a:srgbClr val="F6FAFC"/>
                </a:solidFill>
                <a:latin typeface="Segoe UI"/>
              </a:defRPr>
            </a:pPr>
            <a:r>
              <a:t>safeHits: lit_street, crowded_corridor, safe_zone, transport_hub қабаттары.</a:t>
            </a:r>
          </a:p>
          <a:p>
            <a:pPr>
              <a:spcAft>
                <a:spcPts val="800"/>
              </a:spcAft>
              <a:defRPr sz="1320">
                <a:solidFill>
                  <a:srgbClr val="F6FAFC"/>
                </a:solidFill>
                <a:latin typeface="Segoe UI"/>
              </a:defRPr>
            </a:pPr>
            <a:r>
              <a:t>safetyBoost 16 баллға дейін шектеледі.</a:t>
            </a:r>
          </a:p>
          <a:p>
            <a:pPr>
              <a:spcAft>
                <a:spcPts val="800"/>
              </a:spcAft>
              <a:defRPr sz="1320">
                <a:solidFill>
                  <a:srgbClr val="F6FAFC"/>
                </a:solidFill>
                <a:latin typeface="Segoe UI"/>
              </a:defRPr>
            </a:pPr>
            <a:r>
              <a:t>Нәтиже 1-100 аралығында safetyScore ретінде беріледі.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5056632"/>
            <a:ext cx="4069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40">
                <a:solidFill>
                  <a:srgbClr val="3AB8FF"/>
                </a:solidFill>
                <a:latin typeface="Segoe UI Semibold"/>
              </a:defRPr>
            </a:pPr>
            <a:r>
              <a:t>score = 100 - penalty - profilePenalty + safetyBoost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389888"/>
            <a:ext cx="5257800" cy="4434840"/>
          </a:xfrm>
          <a:prstGeom prst="roundRect">
            <a:avLst/>
          </a:prstGeom>
          <a:solidFill>
            <a:srgbClr val="182B36"/>
          </a:solidFill>
          <a:ln>
            <a:solidFill>
              <a:srgbClr val="445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63640" y="1664208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2BD68B"/>
                </a:solidFill>
                <a:latin typeface="Segoe UI Semibold"/>
              </a:defRPr>
            </a:pPr>
            <a:r>
              <a:t>Маршрутты таңдау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33172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>
                <a:solidFill>
                  <a:srgbClr val="F6FAFC"/>
                </a:solidFill>
                <a:latin typeface="Segoe UI"/>
              </a:defRPr>
            </a:pPr>
            <a:r>
              <a:t>A: қысқа, бірақ risk көп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69680" y="2350008"/>
            <a:ext cx="1572768" cy="182880"/>
          </a:xfrm>
          <a:prstGeom prst="rect">
            <a:avLst/>
          </a:prstGeom>
          <a:solidFill>
            <a:srgbClr val="0F1820"/>
          </a:solidFill>
          <a:ln>
            <a:solidFill>
              <a:srgbClr val="445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869680" y="2350008"/>
            <a:ext cx="912205" cy="182880"/>
          </a:xfrm>
          <a:prstGeom prst="rect">
            <a:avLst/>
          </a:prstGeom>
          <a:solidFill>
            <a:srgbClr val="FF5C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497312" y="231343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19">
                <a:solidFill>
                  <a:srgbClr val="FF5C74"/>
                </a:solidFill>
                <a:latin typeface="Segoe UI Semibold"/>
              </a:defRPr>
            </a:pPr>
            <a:r>
              <a:t>58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97180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>
                <a:solidFill>
                  <a:srgbClr val="F6FAFC"/>
                </a:solidFill>
                <a:latin typeface="Segoe UI"/>
              </a:defRPr>
            </a:pPr>
            <a:r>
              <a:t>B: ұзындау, жарық дәліз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69680" y="2990088"/>
            <a:ext cx="1572768" cy="182880"/>
          </a:xfrm>
          <a:prstGeom prst="rect">
            <a:avLst/>
          </a:prstGeom>
          <a:solidFill>
            <a:srgbClr val="0F1820"/>
          </a:solidFill>
          <a:ln>
            <a:solidFill>
              <a:srgbClr val="445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869680" y="2990088"/>
            <a:ext cx="1368308" cy="182880"/>
          </a:xfrm>
          <a:prstGeom prst="rect">
            <a:avLst/>
          </a:prstGeom>
          <a:solidFill>
            <a:srgbClr val="2B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497312" y="295351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19">
                <a:solidFill>
                  <a:srgbClr val="2BD68B"/>
                </a:solidFill>
                <a:latin typeface="Segoe UI Semibold"/>
              </a:defRPr>
            </a:pPr>
            <a:r>
              <a:t>87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361188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>
                <a:solidFill>
                  <a:srgbClr val="F6FAFC"/>
                </a:solidFill>
                <a:latin typeface="Segoe UI"/>
              </a:defRPr>
            </a:pPr>
            <a:r>
              <a:t>C: орташа балама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869680" y="3630168"/>
            <a:ext cx="1572768" cy="182880"/>
          </a:xfrm>
          <a:prstGeom prst="rect">
            <a:avLst/>
          </a:prstGeom>
          <a:solidFill>
            <a:srgbClr val="0F1820"/>
          </a:solidFill>
          <a:ln>
            <a:solidFill>
              <a:srgbClr val="445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869680" y="3630168"/>
            <a:ext cx="1148120" cy="182880"/>
          </a:xfrm>
          <a:prstGeom prst="rect">
            <a:avLst/>
          </a:prstGeom>
          <a:solidFill>
            <a:srgbClr val="3A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497312" y="359359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19">
                <a:solidFill>
                  <a:srgbClr val="3AB8FF"/>
                </a:solidFill>
                <a:latin typeface="Segoe UI Semibold"/>
              </a:defRPr>
            </a:pPr>
            <a:r>
              <a:t>73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4480560"/>
            <a:ext cx="4343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30">
                <a:solidFill>
                  <a:srgbClr val="A9B7C2"/>
                </a:solidFill>
                <a:latin typeface="Segoe UI"/>
              </a:defRPr>
            </a:pPr>
            <a:r>
              <a:t>Егер score айырмасы 6 баллдан көп болса, қауіпсіз маршрут басым. Айырма аз болса, duration бойынша қысқа нұсқа таңдалады.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B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784080" y="-228600"/>
            <a:ext cx="2286000" cy="2286000"/>
          </a:xfrm>
          <a:prstGeom prst="roundRect">
            <a:avLst/>
          </a:prstGeom>
          <a:solidFill>
            <a:srgbClr val="3A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561320" y="5212080"/>
            <a:ext cx="1645920" cy="1645920"/>
          </a:xfrm>
          <a:prstGeom prst="roundRect">
            <a:avLst/>
          </a:prstGeom>
          <a:solidFill>
            <a:srgbClr val="2B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5989320"/>
            <a:ext cx="1280160" cy="219456"/>
          </a:xfrm>
          <a:prstGeom prst="roundRect">
            <a:avLst/>
          </a:prstGeom>
          <a:solidFill>
            <a:srgbClr val="FFB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329184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2BD68B"/>
                </a:solidFill>
                <a:latin typeface="Segoe UI Semibold"/>
              </a:defRPr>
            </a:pPr>
            <a:r>
              <a:t>07 | 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566928"/>
            <a:ext cx="996696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6FAFC"/>
                </a:solidFill>
                <a:latin typeface="Segoe UI Semibold"/>
              </a:defRPr>
            </a:pPr>
            <a:r>
              <a:t>Деректер қоры және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327648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9B7C2"/>
                </a:solidFill>
                <a:latin typeface="Segoe UI"/>
              </a:defRPr>
            </a:pPr>
            <a:r>
              <a:t>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6336792"/>
            <a:ext cx="4754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>
                <a:solidFill>
                  <a:srgbClr val="A9B7C2"/>
                </a:solidFill>
                <a:latin typeface="Segoe UI"/>
              </a:defRPr>
            </a:pPr>
            <a:r>
              <a:t>SafeWay | дипломдық жобаның алдын ала қорғауы |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1508760"/>
            <a:ext cx="1737360" cy="1143000"/>
          </a:xfrm>
          <a:prstGeom prst="roundRect">
            <a:avLst/>
          </a:prstGeom>
          <a:solidFill>
            <a:srgbClr val="182B36"/>
          </a:solidFill>
          <a:ln>
            <a:solidFill>
              <a:srgbClr val="445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39" y="1691639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>
                <a:solidFill>
                  <a:srgbClr val="2BD68B"/>
                </a:solidFill>
                <a:latin typeface="Segoe UI Semibold"/>
              </a:defRPr>
            </a:pPr>
            <a:r>
              <a:t>risk_zones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39" y="2039112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60">
                <a:solidFill>
                  <a:srgbClr val="A9B7C2"/>
                </a:solidFill>
                <a:latin typeface="Segoe UI"/>
              </a:defRPr>
            </a:pPr>
            <a:r>
              <a:t>қауіп аймақтары</a:t>
            </a:r>
            <a:br/>
            <a:r>
              <a:t>category, severity, radius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80360" y="1508760"/>
            <a:ext cx="1737360" cy="1143000"/>
          </a:xfrm>
          <a:prstGeom prst="roundRect">
            <a:avLst/>
          </a:prstGeom>
          <a:solidFill>
            <a:srgbClr val="182B36"/>
          </a:solidFill>
          <a:ln>
            <a:solidFill>
              <a:srgbClr val="445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017520" y="1691639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>
                <a:solidFill>
                  <a:srgbClr val="2BD68B"/>
                </a:solidFill>
                <a:latin typeface="Segoe UI Semibold"/>
              </a:defRPr>
            </a:pPr>
            <a:r>
              <a:t>user_reports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2039112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60">
                <a:solidFill>
                  <a:srgbClr val="A9B7C2"/>
                </a:solidFill>
                <a:latin typeface="Segoe UI"/>
              </a:defRPr>
            </a:pPr>
            <a:r>
              <a:t>пайдаланушы хабарламалары</a:t>
            </a:r>
            <a:br/>
            <a:r>
              <a:t>pending/verified status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92040" y="1508760"/>
            <a:ext cx="1737360" cy="1143000"/>
          </a:xfrm>
          <a:prstGeom prst="roundRect">
            <a:avLst/>
          </a:prstGeom>
          <a:solidFill>
            <a:srgbClr val="182B36"/>
          </a:solidFill>
          <a:ln>
            <a:solidFill>
              <a:srgbClr val="445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0" y="1691639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>
                <a:solidFill>
                  <a:srgbClr val="2BD68B"/>
                </a:solidFill>
                <a:latin typeface="Segoe UI Semibold"/>
              </a:defRPr>
            </a:pPr>
            <a:r>
              <a:t>map_features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2039112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60">
                <a:solidFill>
                  <a:srgbClr val="A9B7C2"/>
                </a:solidFill>
                <a:latin typeface="Segoe UI"/>
              </a:defRPr>
            </a:pPr>
            <a:r>
              <a:t>жарық көшелер, safe zones,</a:t>
            </a:r>
            <a:br/>
            <a:r>
              <a:t>transport hubs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3246120"/>
            <a:ext cx="1737360" cy="1143000"/>
          </a:xfrm>
          <a:prstGeom prst="roundRect">
            <a:avLst/>
          </a:prstGeom>
          <a:solidFill>
            <a:srgbClr val="182B36"/>
          </a:solidFill>
          <a:ln>
            <a:solidFill>
              <a:srgbClr val="445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39" y="3429000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>
                <a:solidFill>
                  <a:srgbClr val="2BD68B"/>
                </a:solidFill>
                <a:latin typeface="Segoe UI Semibold"/>
              </a:defRPr>
            </a:pPr>
            <a:r>
              <a:t>safe_places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39" y="3776472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60">
                <a:solidFill>
                  <a:srgbClr val="A9B7C2"/>
                </a:solidFill>
                <a:latin typeface="Segoe UI"/>
              </a:defRPr>
            </a:pPr>
            <a:r>
              <a:t>полиция, аурухана және</a:t>
            </a:r>
            <a:br/>
            <a:r>
              <a:t>қоғамдық қауіпсіз орындар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80360" y="3246120"/>
            <a:ext cx="1737360" cy="1143000"/>
          </a:xfrm>
          <a:prstGeom prst="roundRect">
            <a:avLst/>
          </a:prstGeom>
          <a:solidFill>
            <a:srgbClr val="182B36"/>
          </a:solidFill>
          <a:ln>
            <a:solidFill>
              <a:srgbClr val="445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017520" y="3429000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>
                <a:solidFill>
                  <a:srgbClr val="2BD68B"/>
                </a:solidFill>
                <a:latin typeface="Segoe UI Semibold"/>
              </a:defRPr>
            </a:pPr>
            <a:r>
              <a:t>users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0" y="3776472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60">
                <a:solidFill>
                  <a:srgbClr val="A9B7C2"/>
                </a:solidFill>
                <a:latin typeface="Segoe UI"/>
              </a:defRPr>
            </a:pPr>
            <a:r>
              <a:t>аккаунт және JWT auth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92040" y="3246120"/>
            <a:ext cx="1737360" cy="1143000"/>
          </a:xfrm>
          <a:prstGeom prst="roundRect">
            <a:avLst/>
          </a:prstGeom>
          <a:solidFill>
            <a:srgbClr val="182B36"/>
          </a:solidFill>
          <a:ln>
            <a:solidFill>
              <a:srgbClr val="445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9200" y="3429000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>
                <a:solidFill>
                  <a:srgbClr val="2BD68B"/>
                </a:solidFill>
                <a:latin typeface="Segoe UI Semibold"/>
              </a:defRPr>
            </a:pPr>
            <a:r>
              <a:t>user_preferences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3776472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60">
                <a:solidFill>
                  <a:srgbClr val="A9B7C2"/>
                </a:solidFill>
                <a:latin typeface="Segoe UI"/>
              </a:defRPr>
            </a:pPr>
            <a:r>
              <a:t>JSONB route settings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78040" y="1508760"/>
            <a:ext cx="3840480" cy="2880360"/>
          </a:xfrm>
          <a:prstGeom prst="roundRect">
            <a:avLst/>
          </a:prstGeom>
          <a:solidFill>
            <a:srgbClr val="142430"/>
          </a:solidFill>
          <a:ln>
            <a:solidFill>
              <a:srgbClr val="445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452360" y="178308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2BD68B"/>
                </a:solidFill>
                <a:latin typeface="Segoe UI Semibold"/>
              </a:defRPr>
            </a:pPr>
            <a:r>
              <a:t>Негізгі endpoint-тер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52360" y="2331720"/>
            <a:ext cx="32461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F6FAFC"/>
                </a:solidFill>
                <a:latin typeface="Segoe UI"/>
              </a:defRPr>
            </a:pPr>
            <a:r>
              <a:t>POST /api/routes/safe - recommended және alternatives қайтарады;</a:t>
            </a:r>
          </a:p>
          <a:p>
            <a:pPr>
              <a:spcAft>
                <a:spcPts val="800"/>
              </a:spcAft>
              <a:defRPr sz="1150">
                <a:solidFill>
                  <a:srgbClr val="F6FAFC"/>
                </a:solidFill>
                <a:latin typeface="Segoe UI"/>
              </a:defRPr>
            </a:pPr>
            <a:r>
              <a:t>GET /api/search?q= - көше/орын іздеу;</a:t>
            </a:r>
          </a:p>
          <a:p>
            <a:pPr>
              <a:spcAft>
                <a:spcPts val="800"/>
              </a:spcAft>
              <a:defRPr sz="1150">
                <a:solidFill>
                  <a:srgbClr val="F6FAFC"/>
                </a:solidFill>
                <a:latin typeface="Segoe UI"/>
              </a:defRPr>
            </a:pPr>
            <a:r>
              <a:t>GET /api/map/features - карта қабаттары;</a:t>
            </a:r>
          </a:p>
          <a:p>
            <a:pPr>
              <a:spcAft>
                <a:spcPts val="800"/>
              </a:spcAft>
              <a:defRPr sz="1150">
                <a:solidFill>
                  <a:srgbClr val="F6FAFC"/>
                </a:solidFill>
                <a:latin typeface="Segoe UI"/>
              </a:defRPr>
            </a:pPr>
            <a:r>
              <a:t>POST /api/reports - жаңа оқиға хабарламасы;</a:t>
            </a:r>
          </a:p>
          <a:p>
            <a:pPr>
              <a:spcAft>
                <a:spcPts val="800"/>
              </a:spcAft>
              <a:defRPr sz="1150">
                <a:solidFill>
                  <a:srgbClr val="F6FAFC"/>
                </a:solidFill>
                <a:latin typeface="Segoe UI"/>
              </a:defRPr>
            </a:pPr>
            <a:r>
              <a:t>POST /api/auth/login және /register - аккаунт.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52360" y="3977639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>
                <a:solidFill>
                  <a:srgbClr val="3AB8FF"/>
                </a:solidFill>
                <a:latin typeface="Segoe UI"/>
              </a:defRPr>
            </a:pPr>
            <a:r>
              <a:t>Zod validation қате координата, профиль және категорияларды API деңгейінде тоқтатады.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B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784080" y="-228600"/>
            <a:ext cx="2286000" cy="2286000"/>
          </a:xfrm>
          <a:prstGeom prst="roundRect">
            <a:avLst/>
          </a:prstGeom>
          <a:solidFill>
            <a:srgbClr val="3A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561320" y="5212080"/>
            <a:ext cx="1645920" cy="1645920"/>
          </a:xfrm>
          <a:prstGeom prst="roundRect">
            <a:avLst/>
          </a:prstGeom>
          <a:solidFill>
            <a:srgbClr val="2B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5989320"/>
            <a:ext cx="1280160" cy="219456"/>
          </a:xfrm>
          <a:prstGeom prst="roundRect">
            <a:avLst/>
          </a:prstGeom>
          <a:solidFill>
            <a:srgbClr val="FFB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329184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2BD68B"/>
                </a:solidFill>
                <a:latin typeface="Segoe UI Semibold"/>
              </a:defRPr>
            </a:pPr>
            <a:r>
              <a:t>08 |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566928"/>
            <a:ext cx="996696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6FAFC"/>
                </a:solidFill>
                <a:latin typeface="Segoe UI Semibold"/>
              </a:defRPr>
            </a:pPr>
            <a:r>
              <a:t>Mobile қосымша және демонстрация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327648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9B7C2"/>
                </a:solidFill>
                <a:latin typeface="Segoe UI"/>
              </a:defRPr>
            </a:pPr>
            <a:r>
              <a:t>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6336792"/>
            <a:ext cx="4754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>
                <a:solidFill>
                  <a:srgbClr val="A9B7C2"/>
                </a:solidFill>
                <a:latin typeface="Segoe UI"/>
              </a:defRPr>
            </a:pPr>
            <a:r>
              <a:t>SafeWay | дипломдық жобаның алдын ала қорғауы |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1225296"/>
            <a:ext cx="2788920" cy="5074920"/>
          </a:xfrm>
          <a:prstGeom prst="roundRect">
            <a:avLst/>
          </a:prstGeom>
          <a:solidFill>
            <a:srgbClr val="0A1117"/>
          </a:solidFill>
          <a:ln>
            <a:solidFill>
              <a:srgbClr val="526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42415" y="1481328"/>
            <a:ext cx="2441448" cy="4526280"/>
          </a:xfrm>
          <a:prstGeom prst="roundRect">
            <a:avLst/>
          </a:prstGeom>
          <a:solidFill>
            <a:srgbClr val="203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 rot="1080000">
            <a:off x="1115568" y="1664208"/>
            <a:ext cx="2057400" cy="73152"/>
          </a:xfrm>
          <a:prstGeom prst="rect">
            <a:avLst/>
          </a:prstGeom>
          <a:solidFill>
            <a:srgbClr val="2C4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 rot="21360000">
            <a:off x="1682495" y="2121408"/>
            <a:ext cx="1892807" cy="73152"/>
          </a:xfrm>
          <a:prstGeom prst="rect">
            <a:avLst/>
          </a:prstGeom>
          <a:solidFill>
            <a:srgbClr val="365D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 rot="20040000">
            <a:off x="2249424" y="2578608"/>
            <a:ext cx="1728216" cy="73152"/>
          </a:xfrm>
          <a:prstGeom prst="rect">
            <a:avLst/>
          </a:prstGeom>
          <a:solidFill>
            <a:srgbClr val="42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6" name="Connector 15"/>
          <p:cNvCxnSpPr/>
          <p:nvPr/>
        </p:nvCxnSpPr>
        <p:spPr>
          <a:xfrm>
            <a:off x="1389888" y="2852928"/>
            <a:ext cx="393192" cy="210312"/>
          </a:xfrm>
          <a:prstGeom prst="line">
            <a:avLst/>
          </a:prstGeom>
          <a:ln w="50800">
            <a:solidFill>
              <a:srgbClr val="2BD6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783080" y="3063240"/>
            <a:ext cx="274320" cy="502920"/>
          </a:xfrm>
          <a:prstGeom prst="line">
            <a:avLst/>
          </a:prstGeom>
          <a:ln w="50800">
            <a:solidFill>
              <a:srgbClr val="2BD6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057400" y="3566160"/>
            <a:ext cx="548640" cy="347472"/>
          </a:xfrm>
          <a:prstGeom prst="line">
            <a:avLst/>
          </a:prstGeom>
          <a:ln w="50800">
            <a:solidFill>
              <a:srgbClr val="2BD6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2121408" y="3913632"/>
            <a:ext cx="484632" cy="768096"/>
          </a:xfrm>
          <a:prstGeom prst="line">
            <a:avLst/>
          </a:prstGeom>
          <a:ln w="50800">
            <a:solidFill>
              <a:srgbClr val="2BD6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1325880" y="2697480"/>
            <a:ext cx="164592" cy="164592"/>
          </a:xfrm>
          <a:prstGeom prst="ellipse">
            <a:avLst/>
          </a:prstGeom>
          <a:solidFill>
            <a:srgbClr val="2B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2514600" y="3931920"/>
            <a:ext cx="164592" cy="164592"/>
          </a:xfrm>
          <a:prstGeom prst="ellipse">
            <a:avLst/>
          </a:prstGeom>
          <a:solidFill>
            <a:srgbClr val="FF5C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2057400" y="4709160"/>
            <a:ext cx="164592" cy="164592"/>
          </a:xfrm>
          <a:prstGeom prst="ellipse">
            <a:avLst/>
          </a:prstGeom>
          <a:solidFill>
            <a:srgbClr val="3A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234440" y="5230368"/>
            <a:ext cx="2057400" cy="566928"/>
          </a:xfrm>
          <a:prstGeom prst="roundRect">
            <a:avLst/>
          </a:prstGeom>
          <a:solidFill>
            <a:srgbClr val="101B22"/>
          </a:solidFill>
          <a:ln>
            <a:solidFill>
              <a:srgbClr val="445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389888" y="5394960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40">
                <a:solidFill>
                  <a:srgbClr val="2BD68B"/>
                </a:solidFill>
                <a:latin typeface="Segoe UI Semibold"/>
              </a:defRPr>
            </a:pPr>
            <a:r>
              <a:t>Safety score 87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40280" y="5394960"/>
            <a:ext cx="777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30">
                <a:solidFill>
                  <a:srgbClr val="A9B7C2"/>
                </a:solidFill>
                <a:latin typeface="Segoe UI"/>
              </a:defRPr>
            </a:pPr>
            <a:r>
              <a:t>lit street + crowded corridor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60520" y="1325880"/>
            <a:ext cx="3154680" cy="3886200"/>
          </a:xfrm>
          <a:prstGeom prst="roundRect">
            <a:avLst/>
          </a:prstGeom>
          <a:solidFill>
            <a:srgbClr val="182B36"/>
          </a:solidFill>
          <a:ln>
            <a:solidFill>
              <a:srgbClr val="445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434840" y="1600200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2BD68B"/>
                </a:solidFill>
                <a:latin typeface="Segoe UI Semibold"/>
              </a:defRPr>
            </a:pPr>
            <a:r>
              <a:t>Көрсетілетін сценарий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2148840"/>
            <a:ext cx="2514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80">
                <a:solidFill>
                  <a:srgbClr val="F6FAFC"/>
                </a:solidFill>
                <a:latin typeface="Segoe UI"/>
              </a:defRPr>
            </a:pPr>
            <a:r>
              <a:t>Картаны ашу және Алматы аймағын көрсету.</a:t>
            </a:r>
          </a:p>
          <a:p>
            <a:pPr>
              <a:spcAft>
                <a:spcPts val="800"/>
              </a:spcAft>
              <a:defRPr sz="1180">
                <a:solidFill>
                  <a:srgbClr val="F6FAFC"/>
                </a:solidFill>
                <a:latin typeface="Segoe UI"/>
              </a:defRPr>
            </a:pPr>
            <a:r>
              <a:t>Орынды іздеу және маршрут нүктесін таңдау.</a:t>
            </a:r>
          </a:p>
          <a:p>
            <a:pPr>
              <a:spcAft>
                <a:spcPts val="800"/>
              </a:spcAft>
              <a:defRPr sz="1180">
                <a:solidFill>
                  <a:srgbClr val="F6FAFC"/>
                </a:solidFill>
                <a:latin typeface="Segoe UI"/>
              </a:defRPr>
            </a:pPr>
            <a:r>
              <a:t>Профильді таңдау: walk / bike / scooter / drive.</a:t>
            </a:r>
          </a:p>
          <a:p>
            <a:pPr>
              <a:spcAft>
                <a:spcPts val="800"/>
              </a:spcAft>
              <a:defRPr sz="1180">
                <a:solidFill>
                  <a:srgbClr val="F6FAFC"/>
                </a:solidFill>
                <a:latin typeface="Segoe UI"/>
              </a:defRPr>
            </a:pPr>
            <a:r>
              <a:t>Avoid параметрлері: poor_lighting, underpass, construction.</a:t>
            </a:r>
          </a:p>
          <a:p>
            <a:pPr>
              <a:spcAft>
                <a:spcPts val="800"/>
              </a:spcAft>
              <a:defRPr sz="1180">
                <a:solidFill>
                  <a:srgbClr val="F6FAFC"/>
                </a:solidFill>
                <a:latin typeface="Segoe UI"/>
              </a:defRPr>
            </a:pPr>
            <a:r>
              <a:t>Қауіпсіз маршрут пен alternatives салыстыру.</a:t>
            </a:r>
          </a:p>
          <a:p>
            <a:pPr>
              <a:spcAft>
                <a:spcPts val="800"/>
              </a:spcAft>
              <a:defRPr sz="1180">
                <a:solidFill>
                  <a:srgbClr val="F6FAFC"/>
                </a:solidFill>
                <a:latin typeface="Segoe UI"/>
              </a:defRPr>
            </a:pPr>
            <a:r>
              <a:t>Қабаттарды қосу: risk, reports, police, hospitals, lit streets.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26679" y="1325880"/>
            <a:ext cx="3429000" cy="3886200"/>
          </a:xfrm>
          <a:prstGeom prst="roundRect">
            <a:avLst/>
          </a:prstGeom>
          <a:solidFill>
            <a:srgbClr val="142430"/>
          </a:solidFill>
          <a:ln>
            <a:solidFill>
              <a:srgbClr val="445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001000" y="1600200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F6FAFC"/>
                </a:solidFill>
                <a:latin typeface="Segoe UI Semibold"/>
              </a:defRPr>
            </a:pPr>
            <a:r>
              <a:t>Презентациядан ашылатын сілтемелер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1000" y="2240280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30">
                <a:solidFill>
                  <a:srgbClr val="2BD68B"/>
                </a:solidFill>
                <a:latin typeface="Segoe UI Semibold"/>
                <a:hlinkClick r:id="rId2"/>
              </a:rPr>
              <a:t>Backend health: http://localhost:4000/health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0" y="2697480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30">
                <a:solidFill>
                  <a:srgbClr val="2BD68B"/>
                </a:solidFill>
                <a:latin typeface="Segoe UI Semibold"/>
                <a:hlinkClick r:id="rId3"/>
              </a:rPr>
              <a:t>Expo Metro: http://localhost:8081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0" y="3154680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30">
                <a:solidFill>
                  <a:srgbClr val="2BD68B"/>
                </a:solidFill>
                <a:latin typeface="Segoe UI Semibold"/>
                <a:hlinkClick r:id="rId4"/>
              </a:rPr>
              <a:t>README.md іске қосу нұсқаулығы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01000" y="3822191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FFBE56"/>
                </a:solidFill>
                <a:latin typeface="Segoe UI Semibold"/>
              </a:defRPr>
            </a:pPr>
            <a:r>
              <a:t>Демо алдында: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1000" y="416052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19">
                <a:solidFill>
                  <a:srgbClr val="A9B7C2"/>
                </a:solidFill>
                <a:latin typeface="Segoe UI"/>
              </a:defRPr>
            </a:pPr>
            <a:r>
              <a:t>docker compose up -d postgres</a:t>
            </a:r>
            <a:br/>
            <a:r>
              <a:t>cd backend &amp;&amp; npm run dev</a:t>
            </a:r>
            <a:br/>
            <a:r>
              <a:t>cd mobile &amp;&amp; npm run android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B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784080" y="-228600"/>
            <a:ext cx="2286000" cy="2286000"/>
          </a:xfrm>
          <a:prstGeom prst="roundRect">
            <a:avLst/>
          </a:prstGeom>
          <a:solidFill>
            <a:srgbClr val="3A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561320" y="5212080"/>
            <a:ext cx="1645920" cy="1645920"/>
          </a:xfrm>
          <a:prstGeom prst="roundRect">
            <a:avLst/>
          </a:prstGeom>
          <a:solidFill>
            <a:srgbClr val="2B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5989320"/>
            <a:ext cx="1280160" cy="219456"/>
          </a:xfrm>
          <a:prstGeom prst="roundRect">
            <a:avLst/>
          </a:prstGeom>
          <a:solidFill>
            <a:srgbClr val="FFB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329184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2BD68B"/>
                </a:solidFill>
                <a:latin typeface="Segoe UI Semibold"/>
              </a:defRPr>
            </a:pPr>
            <a:r>
              <a:t>09 | НӘТИЖЕ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566928"/>
            <a:ext cx="996696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6FAFC"/>
                </a:solidFill>
                <a:latin typeface="Segoe UI Semibold"/>
              </a:defRPr>
            </a:pPr>
            <a:r>
              <a:t>Тестілеу және пайдалану тәртібі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327648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9B7C2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6336792"/>
            <a:ext cx="4754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>
                <a:solidFill>
                  <a:srgbClr val="A9B7C2"/>
                </a:solidFill>
                <a:latin typeface="Segoe UI"/>
              </a:defRPr>
            </a:pPr>
            <a:r>
              <a:t>SafeWay | дипломдық жобаның алдын ала қорғауы |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600200"/>
            <a:ext cx="2514600" cy="3566160"/>
          </a:xfrm>
          <a:prstGeom prst="roundRect">
            <a:avLst/>
          </a:prstGeom>
          <a:solidFill>
            <a:srgbClr val="182B36"/>
          </a:solidFill>
          <a:ln>
            <a:solidFill>
              <a:srgbClr val="445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05840" y="1874519"/>
            <a:ext cx="502920" cy="502920"/>
          </a:xfrm>
          <a:prstGeom prst="ellipse">
            <a:avLst/>
          </a:prstGeom>
          <a:solidFill>
            <a:srgbClr val="2B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1965960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0D161E"/>
                </a:solidFill>
                <a:latin typeface="Segoe UI Semibold"/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19" y="1901952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>
                <a:solidFill>
                  <a:srgbClr val="F6FAFC"/>
                </a:solidFill>
                <a:latin typeface="Segoe UI Semibold"/>
              </a:defRPr>
            </a:pPr>
            <a:r>
              <a:t>PostgreSQL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1" y="2743200"/>
            <a:ext cx="1965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40">
                <a:solidFill>
                  <a:srgbClr val="A9B7C2"/>
                </a:solidFill>
                <a:latin typeface="Segoe UI"/>
              </a:defRPr>
            </a:pPr>
            <a:r>
              <a:t>docker compose up -d postgres</a:t>
            </a:r>
            <a:br/>
            <a:r>
              <a:t>npm run db:setup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20440" y="1600200"/>
            <a:ext cx="2514600" cy="3566160"/>
          </a:xfrm>
          <a:prstGeom prst="roundRect">
            <a:avLst/>
          </a:prstGeom>
          <a:solidFill>
            <a:srgbClr val="182B36"/>
          </a:solidFill>
          <a:ln>
            <a:solidFill>
              <a:srgbClr val="445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3749039" y="1874519"/>
            <a:ext cx="502920" cy="502920"/>
          </a:xfrm>
          <a:prstGeom prst="ellipse">
            <a:avLst/>
          </a:prstGeom>
          <a:solidFill>
            <a:srgbClr val="3A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749039" y="1965960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0D161E"/>
                </a:solidFill>
                <a:latin typeface="Segoe UI Semibold"/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1901952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>
                <a:solidFill>
                  <a:srgbClr val="F6FAFC"/>
                </a:solidFill>
                <a:latin typeface="Segoe UI Semibold"/>
              </a:defRPr>
            </a:pPr>
            <a:r>
              <a:t>Backend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76472" y="2743200"/>
            <a:ext cx="1965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40">
                <a:solidFill>
                  <a:srgbClr val="A9B7C2"/>
                </a:solidFill>
                <a:latin typeface="Segoe UI"/>
              </a:defRPr>
            </a:pPr>
            <a:r>
              <a:t>npm run dev</a:t>
            </a:r>
            <a:br/>
            <a:r>
              <a:t>GET /health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1600200"/>
            <a:ext cx="2514600" cy="3566160"/>
          </a:xfrm>
          <a:prstGeom prst="roundRect">
            <a:avLst/>
          </a:prstGeom>
          <a:solidFill>
            <a:srgbClr val="182B36"/>
          </a:solidFill>
          <a:ln>
            <a:solidFill>
              <a:srgbClr val="445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492240" y="1874519"/>
            <a:ext cx="502920" cy="502920"/>
          </a:xfrm>
          <a:prstGeom prst="ellipse">
            <a:avLst/>
          </a:prstGeom>
          <a:solidFill>
            <a:srgbClr val="FFB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92240" y="1965960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0D161E"/>
                </a:solidFill>
                <a:latin typeface="Segoe UI Semibold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1901952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>
                <a:solidFill>
                  <a:srgbClr val="F6FAFC"/>
                </a:solidFill>
                <a:latin typeface="Segoe UI Semibold"/>
              </a:defRPr>
            </a:pPr>
            <a:r>
              <a:t>Mobile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9672" y="2743200"/>
            <a:ext cx="1965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40">
                <a:solidFill>
                  <a:srgbClr val="A9B7C2"/>
                </a:solidFill>
                <a:latin typeface="Segoe UI"/>
              </a:defRPr>
            </a:pPr>
            <a:r>
              <a:t>npm start немесе npm run android</a:t>
            </a:r>
            <a:br/>
            <a:r>
              <a:t>Expo Go / Android device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06840" y="1600200"/>
            <a:ext cx="2514600" cy="3566160"/>
          </a:xfrm>
          <a:prstGeom prst="roundRect">
            <a:avLst/>
          </a:prstGeom>
          <a:solidFill>
            <a:srgbClr val="182B36"/>
          </a:solidFill>
          <a:ln>
            <a:solidFill>
              <a:srgbClr val="445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9235440" y="1874519"/>
            <a:ext cx="502920" cy="502920"/>
          </a:xfrm>
          <a:prstGeom prst="ellipse">
            <a:avLst/>
          </a:prstGeom>
          <a:solidFill>
            <a:srgbClr val="FF5C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235440" y="1965960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0D161E"/>
                </a:solidFill>
                <a:latin typeface="Segoe UI Semibold"/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19" y="1901952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>
                <a:solidFill>
                  <a:srgbClr val="F6FAFC"/>
                </a:solidFill>
                <a:latin typeface="Segoe UI Semibold"/>
              </a:defRPr>
            </a:pPr>
            <a:r>
              <a:t>Қолданушы сценарийі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62872" y="2743200"/>
            <a:ext cx="1965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40">
                <a:solidFill>
                  <a:srgbClr val="A9B7C2"/>
                </a:solidFill>
                <a:latin typeface="Segoe UI"/>
              </a:defRPr>
            </a:pPr>
            <a:r>
              <a:t>іздеу → route → layers → report → preferences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553212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30">
                <a:solidFill>
                  <a:srgbClr val="F6FAFC"/>
                </a:solidFill>
                <a:latin typeface="Segoe UI"/>
              </a:defRPr>
            </a:pPr>
            <a:r>
              <a:t>Тексеру нәтижесі: жүйе локалды ортада backend, database және mobile клиент ретінде толық байланысады; қауіпсіз маршрут API арқылы есептеліп, картада визуалды көрсетіледі.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B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784080" y="-228600"/>
            <a:ext cx="2286000" cy="2286000"/>
          </a:xfrm>
          <a:prstGeom prst="roundRect">
            <a:avLst/>
          </a:prstGeom>
          <a:solidFill>
            <a:srgbClr val="3A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561320" y="5212080"/>
            <a:ext cx="1645920" cy="1645920"/>
          </a:xfrm>
          <a:prstGeom prst="roundRect">
            <a:avLst/>
          </a:prstGeom>
          <a:solidFill>
            <a:srgbClr val="2B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5989320"/>
            <a:ext cx="1280160" cy="219456"/>
          </a:xfrm>
          <a:prstGeom prst="roundRect">
            <a:avLst/>
          </a:prstGeom>
          <a:solidFill>
            <a:srgbClr val="FFB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329184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2BD68B"/>
                </a:solidFill>
                <a:latin typeface="Segoe UI Semibold"/>
              </a:defRPr>
            </a:pPr>
            <a:r>
              <a:t>10 | НӘТИЖЕ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566928"/>
            <a:ext cx="996696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6FAFC"/>
                </a:solidFill>
                <a:latin typeface="Segoe UI Semibold"/>
              </a:defRPr>
            </a:pPr>
            <a:r>
              <a:t>Практикалық нәтиже және апробация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327648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9B7C2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6336792"/>
            <a:ext cx="4754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>
                <a:solidFill>
                  <a:srgbClr val="A9B7C2"/>
                </a:solidFill>
                <a:latin typeface="Segoe UI"/>
              </a:defRPr>
            </a:pPr>
            <a:r>
              <a:t>SafeWay | дипломдық жобаның алдын ала қорғауы |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1417320"/>
            <a:ext cx="4937760" cy="4480560"/>
          </a:xfrm>
          <a:prstGeom prst="roundRect">
            <a:avLst/>
          </a:prstGeom>
          <a:solidFill>
            <a:srgbClr val="182B36"/>
          </a:solidFill>
          <a:ln>
            <a:solidFill>
              <a:srgbClr val="445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16916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>
                <a:solidFill>
                  <a:srgbClr val="2BD68B"/>
                </a:solidFill>
                <a:latin typeface="Segoe UI Semibold"/>
              </a:defRPr>
            </a:pPr>
            <a:r>
              <a:t>Дайын нәтиже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240280"/>
            <a:ext cx="4206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>
                <a:solidFill>
                  <a:srgbClr val="F6FAFC"/>
                </a:solidFill>
                <a:latin typeface="Segoe UI"/>
              </a:defRPr>
            </a:pPr>
            <a:r>
              <a:t>React Native / Expo мобильді қосымшасы;</a:t>
            </a:r>
          </a:p>
          <a:p>
            <a:pPr>
              <a:spcAft>
                <a:spcPts val="800"/>
              </a:spcAft>
              <a:defRPr sz="1350">
                <a:solidFill>
                  <a:srgbClr val="F6FAFC"/>
                </a:solidFill>
                <a:latin typeface="Segoe UI"/>
              </a:defRPr>
            </a:pPr>
            <a:r>
              <a:t>Express.js backend API;</a:t>
            </a:r>
          </a:p>
          <a:p>
            <a:pPr>
              <a:spcAft>
                <a:spcPts val="800"/>
              </a:spcAft>
              <a:defRPr sz="1350">
                <a:solidFill>
                  <a:srgbClr val="F6FAFC"/>
                </a:solidFill>
                <a:latin typeface="Segoe UI"/>
              </a:defRPr>
            </a:pPr>
            <a:r>
              <a:t>PostgreSQL migrations және demo seed деректері;</a:t>
            </a:r>
          </a:p>
          <a:p>
            <a:pPr>
              <a:spcAft>
                <a:spcPts val="800"/>
              </a:spcAft>
              <a:defRPr sz="1350">
                <a:solidFill>
                  <a:srgbClr val="F6FAFC"/>
                </a:solidFill>
                <a:latin typeface="Segoe UI"/>
              </a:defRPr>
            </a:pPr>
            <a:r>
              <a:t>JWT арқылы optional account mode;</a:t>
            </a:r>
          </a:p>
          <a:p>
            <a:pPr>
              <a:spcAft>
                <a:spcPts val="800"/>
              </a:spcAft>
              <a:defRPr sz="1350">
                <a:solidFill>
                  <a:srgbClr val="F6FAFC"/>
                </a:solidFill>
                <a:latin typeface="Segoe UI"/>
              </a:defRPr>
            </a:pPr>
            <a:r>
              <a:t>Guest preferences және user reports сақтау;</a:t>
            </a:r>
          </a:p>
          <a:p>
            <a:pPr>
              <a:spcAft>
                <a:spcPts val="800"/>
              </a:spcAft>
              <a:defRPr sz="1350">
                <a:solidFill>
                  <a:srgbClr val="F6FAFC"/>
                </a:solidFill>
                <a:latin typeface="Segoe UI"/>
              </a:defRPr>
            </a:pPr>
            <a:r>
              <a:t>README арқылы қайта іске қосу тәртібі.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846320"/>
            <a:ext cx="4160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40">
                <a:solidFill>
                  <a:srgbClr val="3AB8FF"/>
                </a:solidFill>
                <a:latin typeface="Segoe UI"/>
              </a:defRPr>
            </a:pPr>
            <a:r>
              <a:t>Апробация: локалды ортада Android/Expo сценарийі арқылы маршрут құру, қабаттарды көрсету және API health check тексерілді.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417320"/>
            <a:ext cx="4937760" cy="4480560"/>
          </a:xfrm>
          <a:prstGeom prst="roundRect">
            <a:avLst/>
          </a:prstGeom>
          <a:solidFill>
            <a:srgbClr val="142430"/>
          </a:solidFill>
          <a:ln>
            <a:solidFill>
              <a:srgbClr val="445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0" y="16916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>
                <a:solidFill>
                  <a:srgbClr val="2BD68B"/>
                </a:solidFill>
                <a:latin typeface="Segoe UI Semibold"/>
              </a:defRPr>
            </a:pPr>
            <a:r>
              <a:t>Кеңейту бағыты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240280"/>
            <a:ext cx="4160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20">
                <a:solidFill>
                  <a:srgbClr val="F6FAFC"/>
                </a:solidFill>
                <a:latin typeface="Segoe UI"/>
              </a:defRPr>
            </a:pPr>
            <a:r>
              <a:t>PostGIS арқылы spatial index және ST_DWithin енгізу.</a:t>
            </a:r>
          </a:p>
          <a:p>
            <a:pPr>
              <a:spcAft>
                <a:spcPts val="800"/>
              </a:spcAft>
              <a:defRPr sz="1320">
                <a:solidFill>
                  <a:srgbClr val="F6FAFC"/>
                </a:solidFill>
                <a:latin typeface="Segoe UI"/>
              </a:defRPr>
            </a:pPr>
            <a:r>
              <a:t>Verified data: әкімдік, полиция, жарықтандыру қызметі.</a:t>
            </a:r>
          </a:p>
          <a:p>
            <a:pPr>
              <a:spcAft>
                <a:spcPts val="800"/>
              </a:spcAft>
              <a:defRPr sz="1320">
                <a:solidFill>
                  <a:srgbClr val="F6FAFC"/>
                </a:solidFill>
                <a:latin typeface="Segoe UI"/>
              </a:defRPr>
            </a:pPr>
            <a:r>
              <a:t>Admin dashboard және user reports модерациясы.</a:t>
            </a:r>
          </a:p>
          <a:p>
            <a:pPr>
              <a:spcAft>
                <a:spcPts val="800"/>
              </a:spcAft>
              <a:defRPr sz="1320">
                <a:solidFill>
                  <a:srgbClr val="F6FAFC"/>
                </a:solidFill>
                <a:latin typeface="Segoe UI"/>
              </a:defRPr>
            </a:pPr>
            <a:r>
              <a:t>Offline cache және соңғы маршрутты сақтау.</a:t>
            </a:r>
          </a:p>
          <a:p>
            <a:pPr>
              <a:spcAft>
                <a:spcPts val="800"/>
              </a:spcAft>
              <a:defRPr sz="1320">
                <a:solidFill>
                  <a:srgbClr val="F6FAFC"/>
                </a:solidFill>
                <a:latin typeface="Segoe UI"/>
              </a:defRPr>
            </a:pPr>
            <a:r>
              <a:t>Жеке OSRM/Nominatim instance және production HTTPS.</a:t>
            </a:r>
          </a:p>
          <a:p>
            <a:pPr>
              <a:spcAft>
                <a:spcPts val="800"/>
              </a:spcAft>
              <a:defRPr sz="1320">
                <a:solidFill>
                  <a:srgbClr val="F6FAFC"/>
                </a:solidFill>
                <a:latin typeface="Segoe UI"/>
              </a:defRPr>
            </a:pPr>
            <a:r>
              <a:t>Push notification және аналитикалық dashboard.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B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784080" y="-228600"/>
            <a:ext cx="2286000" cy="2286000"/>
          </a:xfrm>
          <a:prstGeom prst="roundRect">
            <a:avLst/>
          </a:prstGeom>
          <a:solidFill>
            <a:srgbClr val="3A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561320" y="5212080"/>
            <a:ext cx="1645920" cy="1645920"/>
          </a:xfrm>
          <a:prstGeom prst="roundRect">
            <a:avLst/>
          </a:prstGeom>
          <a:solidFill>
            <a:srgbClr val="2B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5989320"/>
            <a:ext cx="1280160" cy="219456"/>
          </a:xfrm>
          <a:prstGeom prst="roundRect">
            <a:avLst/>
          </a:prstGeom>
          <a:solidFill>
            <a:srgbClr val="FFB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329184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2BD68B"/>
                </a:solidFill>
                <a:latin typeface="Segoe UI Semibold"/>
              </a:defRPr>
            </a:pPr>
            <a:r>
              <a:t>11 | ФИНАЛ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566928"/>
            <a:ext cx="996696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6FAFC"/>
                </a:solidFill>
                <a:latin typeface="Segoe UI Semibold"/>
              </a:defRPr>
            </a:pPr>
            <a:r>
              <a:t>Қорытынды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327648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9B7C2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6336792"/>
            <a:ext cx="4754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>
                <a:solidFill>
                  <a:srgbClr val="A9B7C2"/>
                </a:solidFill>
                <a:latin typeface="Segoe UI"/>
              </a:defRPr>
            </a:pPr>
            <a:r>
              <a:t>SafeWay | дипломдық жобаның алдын ала қорғауы |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1463040"/>
            <a:ext cx="10058400" cy="4343400"/>
          </a:xfrm>
          <a:prstGeom prst="roundRect">
            <a:avLst/>
          </a:prstGeom>
          <a:solidFill>
            <a:srgbClr val="182B36"/>
          </a:solidFill>
          <a:ln>
            <a:solidFill>
              <a:srgbClr val="445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417320" y="1920240"/>
            <a:ext cx="914400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6FAFC"/>
                </a:solidFill>
                <a:latin typeface="Segoe UI"/>
              </a:defRPr>
            </a:pPr>
            <a:r>
              <a:t>SafeWay қалалық қауіпсіздік пен мобильді навигацияны біріктіретін қолданбалы бағдарламалық шешім ретінде әзірленді.</a:t>
            </a:r>
          </a:p>
          <a:p>
            <a:pPr>
              <a:spcAft>
                <a:spcPts val="800"/>
              </a:spcAft>
              <a:defRPr sz="1700">
                <a:solidFill>
                  <a:srgbClr val="F6FAFC"/>
                </a:solidFill>
                <a:latin typeface="Segoe UI"/>
              </a:defRPr>
            </a:pPr>
            <a:r>
              <a:t>Жоба ең қысқа маршрутты ғана емес, қауіп және қауіпсіздік факторларымен қайта бағаланған route recommendation ұсынады.</a:t>
            </a:r>
          </a:p>
          <a:p>
            <a:pPr>
              <a:spcAft>
                <a:spcPts val="800"/>
              </a:spcAft>
              <a:defRPr sz="1700">
                <a:solidFill>
                  <a:srgbClr val="F6FAFC"/>
                </a:solidFill>
                <a:latin typeface="Segoe UI"/>
              </a:defRPr>
            </a:pPr>
            <a:r>
              <a:t>Негізгі нәтиже - React Native mobile app, Express backend және PostgreSQL деректер қоры бар жұмыс істейтін full-stack прототип.</a:t>
            </a:r>
          </a:p>
          <a:p>
            <a:pPr>
              <a:spcAft>
                <a:spcPts val="800"/>
              </a:spcAft>
              <a:defRPr sz="1700">
                <a:solidFill>
                  <a:srgbClr val="F6FAFC"/>
                </a:solidFill>
                <a:latin typeface="Segoe UI"/>
              </a:defRPr>
            </a:pPr>
            <a:r>
              <a:t>Статистикалық деректер тақырыптың әлеуметтік өзектілігін растады, ал жүйе әрі қарай қалалық пилот немесе кампус қауіпсіз навигациясы ретінде кеңейтіле алады.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4800600"/>
            <a:ext cx="9144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>
                <a:solidFill>
                  <a:srgbClr val="2BD68B"/>
                </a:solidFill>
                <a:latin typeface="Segoe UI Semibold"/>
              </a:defRPr>
            </a:pPr>
            <a:r>
              <a:t>Мақсат орындалды: қауіпсіз маршрут құру, карта қабаттарын көрсету, хабарлама сақтау, іздеу және мобильді навигация элементтері бір жүйеге біріктірілді.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B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784080" y="-228600"/>
            <a:ext cx="2286000" cy="2286000"/>
          </a:xfrm>
          <a:prstGeom prst="roundRect">
            <a:avLst/>
          </a:prstGeom>
          <a:solidFill>
            <a:srgbClr val="3A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561320" y="5212080"/>
            <a:ext cx="1645920" cy="1645920"/>
          </a:xfrm>
          <a:prstGeom prst="roundRect">
            <a:avLst/>
          </a:prstGeom>
          <a:solidFill>
            <a:srgbClr val="2B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5989320"/>
            <a:ext cx="1280160" cy="219456"/>
          </a:xfrm>
          <a:prstGeom prst="roundRect">
            <a:avLst/>
          </a:prstGeom>
          <a:solidFill>
            <a:srgbClr val="FFB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329184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2BD68B"/>
                </a:solidFill>
                <a:latin typeface="Segoe UI Semibold"/>
              </a:defRPr>
            </a:pPr>
            <a:r>
              <a:t>12 |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566928"/>
            <a:ext cx="996696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6FAFC"/>
                </a:solidFill>
                <a:latin typeface="Segoe UI Semibold"/>
              </a:defRPr>
            </a:pPr>
            <a:r>
              <a:t>Пайдаланылған дереккөздер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327648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9B7C2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6336792"/>
            <a:ext cx="4754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>
                <a:solidFill>
                  <a:srgbClr val="A9B7C2"/>
                </a:solidFill>
                <a:latin typeface="Segoe UI"/>
              </a:defRPr>
            </a:pPr>
            <a:r>
              <a:t>SafeWay | дипломдық жобаның алдын ала қорғауы |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32588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30">
                <a:solidFill>
                  <a:srgbClr val="F6FAFC"/>
                </a:solidFill>
                <a:latin typeface="Segoe UI"/>
              </a:defRPr>
            </a:pPr>
            <a:r>
              <a:t>1234.xlsx. ҚР жаяу жүргіншілерге қатысты статистикасы, 2010-2024.</a:t>
            </a:r>
          </a:p>
          <a:p>
            <a:pPr>
              <a:spcAft>
                <a:spcPts val="800"/>
              </a:spcAft>
              <a:defRPr sz="1230">
                <a:solidFill>
                  <a:srgbClr val="F6FAFC"/>
                </a:solidFill>
                <a:latin typeface="Segoe UI"/>
              </a:defRPr>
            </a:pPr>
            <a:r>
              <a:t>Express.js Routing Guide - https://expressjs.com/en/guide/routing.html</a:t>
            </a:r>
          </a:p>
          <a:p>
            <a:pPr>
              <a:spcAft>
                <a:spcPts val="800"/>
              </a:spcAft>
              <a:defRPr sz="1230">
                <a:solidFill>
                  <a:srgbClr val="F6FAFC"/>
                </a:solidFill>
                <a:latin typeface="Segoe UI"/>
              </a:defRPr>
            </a:pPr>
            <a:r>
              <a:t>PostgreSQL JSON Types - https://www.postgresql.org/docs/current/datatype-json.html</a:t>
            </a:r>
          </a:p>
          <a:p>
            <a:pPr>
              <a:spcAft>
                <a:spcPts val="800"/>
              </a:spcAft>
              <a:defRPr sz="1230">
                <a:solidFill>
                  <a:srgbClr val="F6FAFC"/>
                </a:solidFill>
                <a:latin typeface="Segoe UI"/>
              </a:defRPr>
            </a:pPr>
            <a:r>
              <a:t>Expo SDK 54 және Location API - https://docs.expo.dev/</a:t>
            </a:r>
          </a:p>
          <a:p>
            <a:pPr>
              <a:spcAft>
                <a:spcPts val="800"/>
              </a:spcAft>
              <a:defRPr sz="1230">
                <a:solidFill>
                  <a:srgbClr val="F6FAFC"/>
                </a:solidFill>
                <a:latin typeface="Segoe UI"/>
              </a:defRPr>
            </a:pPr>
            <a:r>
              <a:t>React Native Maps - https://github.com/react-native-maps/react-native-maps</a:t>
            </a:r>
          </a:p>
          <a:p>
            <a:pPr>
              <a:spcAft>
                <a:spcPts val="800"/>
              </a:spcAft>
              <a:defRPr sz="1230">
                <a:solidFill>
                  <a:srgbClr val="F6FAFC"/>
                </a:solidFill>
                <a:latin typeface="Segoe UI"/>
              </a:defRPr>
            </a:pPr>
            <a:r>
              <a:t>OSRM API Documentation - https://project-osrm.org/docs/v5.6.4/api/</a:t>
            </a:r>
          </a:p>
          <a:p>
            <a:pPr>
              <a:spcAft>
                <a:spcPts val="800"/>
              </a:spcAft>
              <a:defRPr sz="1230">
                <a:solidFill>
                  <a:srgbClr val="F6FAFC"/>
                </a:solidFill>
                <a:latin typeface="Segoe UI"/>
              </a:defRPr>
            </a:pPr>
            <a:r>
              <a:t>OpenStreetMap / Nominatim / Overpass usage policies.</a:t>
            </a:r>
          </a:p>
          <a:p>
            <a:pPr>
              <a:spcAft>
                <a:spcPts val="800"/>
              </a:spcAft>
              <a:defRPr sz="1230">
                <a:solidFill>
                  <a:srgbClr val="F6FAFC"/>
                </a:solidFill>
                <a:latin typeface="Segoe UI"/>
              </a:defRPr>
            </a:pPr>
            <a:r>
              <a:t>CARTO Basemaps - https://docs.carto.com/carto-user-manual/maps/basemaps</a:t>
            </a:r>
          </a:p>
          <a:p>
            <a:pPr>
              <a:spcAft>
                <a:spcPts val="800"/>
              </a:spcAft>
              <a:defRPr sz="1230">
                <a:solidFill>
                  <a:srgbClr val="F6FAFC"/>
                </a:solidFill>
                <a:latin typeface="Segoe UI"/>
              </a:defRPr>
            </a:pPr>
            <a:r>
              <a:t>Google Patents: US8315792B2, US9932033B2, US10563994B2, EP2372305A2.</a:t>
            </a:r>
          </a:p>
          <a:p>
            <a:pPr>
              <a:spcAft>
                <a:spcPts val="800"/>
              </a:spcAft>
              <a:defRPr sz="1230">
                <a:solidFill>
                  <a:srgbClr val="F6FAFC"/>
                </a:solidFill>
                <a:latin typeface="Segoe UI"/>
              </a:defRPr>
            </a:pPr>
            <a:r>
              <a:t>SafeWay бастапқы коды: backend, mobile, db migrations және README.md.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742432"/>
            <a:ext cx="10241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>
                <a:solidFill>
                  <a:srgbClr val="2BD68B"/>
                </a:solidFill>
                <a:latin typeface="Segoe UI Semibold"/>
              </a:defRPr>
            </a:pPr>
            <a:r>
              <a:t>Назарларыңызға рақмет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3590</TotalTime>
  <Words>1609</Words>
  <Application>Microsoft Office PowerPoint</Application>
  <PresentationFormat>Широкоэкранный</PresentationFormat>
  <Paragraphs>235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7" baseType="lpstr">
      <vt:lpstr>Arial</vt:lpstr>
      <vt:lpstr>Calibri</vt:lpstr>
      <vt:lpstr>Segoe UI Semibold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Toleutai Bekzat</cp:lastModifiedBy>
  <cp:revision>2</cp:revision>
  <dcterms:created xsi:type="dcterms:W3CDTF">2013-01-27T09:14:16Z</dcterms:created>
  <dcterms:modified xsi:type="dcterms:W3CDTF">2026-05-23T21:24:33Z</dcterms:modified>
  <cp:category/>
</cp:coreProperties>
</file>